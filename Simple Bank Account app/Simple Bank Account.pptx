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Cairo" pitchFamily="34"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مقدمة: اسم المشروع والفريق. كل عضو هيشرح الجزء اللي عمله بالترتيب.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نشرح الفكرة العامة: حساب بنكي واحد، وعمليات بسيطة، والتركيز على تنظيم الكود وتقسيمه لطبقات.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ست مميزات: ثلاث عمليات أساسية، وثلاث حاجات بتخلي البرنامج آمن وسهل الاستخدام.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طبقة بتعتمد على اللي تحتها بس. ده اللي بيخلي تقسيم الشغل على 5 أشخاص ممكن.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العضو 1: الأساس. من غير Models سليمة باقي الطبقات ماتشتغلش. نركز على Encapsulation: الرصيد ماينفعش يتعدل من برّه الكلاس، والحساب مستحيل يتعمل برصيد سالب.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العضو 2: قلب المنطق. أي إيداع أو سحب بيعدّي على الـ Service الأول: لو المبلغ غلط بيرمي خطأ، ولو الرصيد مش كافي السحب بيرجّع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العضو 3: الواجهة. بنستخدم TryParse بدل Convert عشان لو المستخدم كتب حروف البرنامج مايقعش. والـ UI بيطلب من الـ Service وماعندوش أي قاعدة بيزنس بنفسه.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العضو 4: دور التجميع. بيربط شغل الأعضاء الثلاثة الأولين ببعض، وأي اختلاف في الأسماء بيظهر عنده كخطأ compile فبينسق الحل مع أصحابه.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العضو 5: الجودة. جرّب الحالات الصحيحة والغلط وسجّل النتائج، وكتب README، وفي الآخر نعرض فيديو التجربة.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نختم بالخلاصة ونفتح باب الأسئلة.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494791"/>
            <a:ext cx="10566400" cy="496570"/>
          </a:xfrm>
          <a:prstGeom prst="rect">
            <a:avLst/>
          </a:prstGeom>
          <a:noFill/>
          <a:ln/>
        </p:spPr>
        <p:txBody>
          <a:bodyPr wrap="square" lIns="0" tIns="0" rIns="0" bIns="0" rtlCol="0" anchor="t"/>
          <a:lstStyle>
            <a:lvl1pPr algn="l" indent="0" marL="0">
              <a:lnSpc>
                <a:spcPct val="115000"/>
              </a:lnSpc>
              <a:buNone/>
              <a:defRPr lang="en-US" sz="3400" dirty="0">
                <a:solidFill>
                  <a:srgbClr val="17233B"/>
                </a:solidFill>
                <a:latin typeface="Cairo" pitchFamily="34" charset="0"/>
                <a:ea typeface="Cairo" pitchFamily="34" charset="-122"/>
                <a:cs typeface="Cairo"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2296161"/>
            <a:ext cx="10566400" cy="3749039"/>
          </a:xfrm>
          <a:prstGeom prst="rect">
            <a:avLst/>
          </a:prstGeom>
          <a:noFill/>
          <a:ln/>
        </p:spPr>
        <p:txBody>
          <a:bodyPr wrap="square" lIns="0" tIns="0" rIns="0" bIns="0" rtlCol="0" anchor="t"/>
          <a:lstStyle>
            <a:lvl1pPr algn="l" indent="0" marL="0">
              <a:lnSpc>
                <a:spcPct val="140000"/>
              </a:lnSpc>
              <a:buNone/>
              <a:defRPr lang="en-US" sz="1600" dirty="0">
                <a:solidFill>
                  <a:srgbClr val="17233B"/>
                </a:solidFill>
                <a:latin typeface="Cairo" pitchFamily="34" charset="0"/>
                <a:ea typeface="Cairo" pitchFamily="34" charset="-122"/>
                <a:cs typeface="Cai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494791"/>
            <a:ext cx="10566400" cy="496570"/>
          </a:xfrm>
          <a:prstGeom prst="rect">
            <a:avLst/>
          </a:prstGeom>
          <a:noFill/>
          <a:ln/>
        </p:spPr>
        <p:txBody>
          <a:bodyPr wrap="square" lIns="0" tIns="0" rIns="0" bIns="0" rtlCol="0" anchor="t"/>
          <a:lstStyle>
            <a:lvl1pPr algn="l" indent="0" marL="0">
              <a:lnSpc>
                <a:spcPct val="115000"/>
              </a:lnSpc>
              <a:buNone/>
              <a:defRPr lang="en-US" sz="3400" dirty="0">
                <a:solidFill>
                  <a:srgbClr val="17233B"/>
                </a:solidFill>
                <a:latin typeface="Cairo" pitchFamily="34" charset="0"/>
                <a:ea typeface="Cairo" pitchFamily="34" charset="-122"/>
                <a:cs typeface="Cairo"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2296161"/>
            <a:ext cx="10566400" cy="3749039"/>
          </a:xfrm>
          <a:prstGeom prst="rect">
            <a:avLst/>
          </a:prstGeom>
          <a:noFill/>
          <a:ln/>
        </p:spPr>
        <p:txBody>
          <a:bodyPr wrap="square" lIns="0" tIns="0" rIns="0" bIns="0" rtlCol="0" anchor="t"/>
          <a:lstStyle>
            <a:lvl1pPr algn="l" indent="0" marL="0">
              <a:lnSpc>
                <a:spcPct val="140000"/>
              </a:lnSpc>
              <a:buNone/>
              <a:defRPr lang="en-US" sz="1600" dirty="0">
                <a:solidFill>
                  <a:srgbClr val="17233B"/>
                </a:solidFill>
                <a:latin typeface="Cairo" pitchFamily="34" charset="0"/>
                <a:ea typeface="Cairo" pitchFamily="34" charset="-122"/>
                <a:cs typeface="Cai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B"/>
        </a:solidFill>
      </p:bgPr>
    </p:bg>
    <p:spTree>
      <p:nvGrpSpPr>
        <p:cNvPr id="1" name=""/>
        <p:cNvGrpSpPr/>
        <p:nvPr/>
      </p:nvGrpSpPr>
      <p:grpSpPr>
        <a:xfrm>
          <a:off x="0" y="0"/>
          <a:ext cx="0" cy="0"/>
          <a:chOff x="0" y="0"/>
          <a:chExt cx="0" cy="0"/>
        </a:xfrm>
      </p:grpSpPr>
      <p:sp>
        <p:nvSpPr>
          <p:cNvPr id="2" name="Shape 0"/>
          <p:cNvSpPr/>
          <p:nvPr/>
        </p:nvSpPr>
        <p:spPr>
          <a:xfrm>
            <a:off x="0" y="0"/>
            <a:ext cx="12192000" cy="1524000"/>
          </a:xfrm>
          <a:prstGeom prst="rect">
            <a:avLst/>
          </a:prstGeom>
          <a:solidFill>
            <a:srgbClr val="FFFFFF"/>
          </a:solidFill>
          <a:ln/>
        </p:spPr>
      </p:sp>
      <p:pic>
        <p:nvPicPr>
          <p:cNvPr id="3" name="Image 0" descr="شعار ITC">    </p:cNvPr>
          <p:cNvPicPr>
            <a:picLocks noChangeAspect="1"/>
          </p:cNvPicPr>
          <p:nvPr/>
        </p:nvPicPr>
        <p:blipFill>
          <a:blip r:embed="rId1"/>
          <a:srcRect l="0" r="0" t="0" b="0"/>
          <a:stretch/>
        </p:blipFill>
        <p:spPr>
          <a:xfrm>
            <a:off x="812800" y="190500"/>
            <a:ext cx="1143000" cy="1143000"/>
          </a:xfrm>
          <a:prstGeom prst="rect">
            <a:avLst/>
          </a:prstGeom>
        </p:spPr>
      </p:pic>
      <p:pic>
        <p:nvPicPr>
          <p:cNvPr id="4" name="Image 1" descr="شعار رواد مصر الرقمية">    </p:cNvPr>
          <p:cNvPicPr>
            <a:picLocks noChangeAspect="1"/>
          </p:cNvPicPr>
          <p:nvPr/>
        </p:nvPicPr>
        <p:blipFill>
          <a:blip r:embed="rId2"/>
          <a:srcRect l="0" r="0" t="-223" b="-223"/>
          <a:stretch/>
        </p:blipFill>
        <p:spPr>
          <a:xfrm>
            <a:off x="10236200" y="190500"/>
            <a:ext cx="1143000" cy="1143000"/>
          </a:xfrm>
          <a:prstGeom prst="rect">
            <a:avLst/>
          </a:prstGeom>
        </p:spPr>
      </p:pic>
      <p:sp>
        <p:nvSpPr>
          <p:cNvPr id="5" name="Text 1"/>
          <p:cNvSpPr/>
          <p:nvPr/>
        </p:nvSpPr>
        <p:spPr>
          <a:xfrm>
            <a:off x="4861473" y="1643380"/>
            <a:ext cx="2468975"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7FD1C7"/>
                </a:solidFill>
                <a:latin typeface="Cairo" pitchFamily="34" charset="0"/>
                <a:ea typeface="Cairo" pitchFamily="34" charset="-122"/>
                <a:cs typeface="Cairo" pitchFamily="34" charset="-120"/>
              </a:rPr>
              <a:t>مشروع مصغّر بلغة C#</a:t>
            </a:r>
            <a:endParaRPr lang="en-US" sz="1800" dirty="0"/>
          </a:p>
        </p:txBody>
      </p:sp>
      <p:sp>
        <p:nvSpPr>
          <p:cNvPr id="6" name="Text 2"/>
          <p:cNvSpPr/>
          <p:nvPr>
            <p:ph type="title"/>
          </p:nvPr>
        </p:nvSpPr>
        <p:spPr>
          <a:xfrm>
            <a:off x="1902246" y="2166620"/>
            <a:ext cx="8387429" cy="863600"/>
          </a:xfrm>
          <a:prstGeom prst="rect">
            <a:avLst/>
          </a:prstGeom>
          <a:noFill/>
          <a:ln/>
        </p:spPr>
        <p:txBody>
          <a:bodyPr wrap="square" lIns="0" tIns="0" rIns="0" bIns="0" rtlCol="0" anchor="t">
            <a:normAutofit/>
          </a:bodyPr>
          <a:lstStyle/>
          <a:p>
            <a:pPr algn="ctr" indent="0" marL="0">
              <a:lnSpc>
                <a:spcPts val="6600"/>
              </a:lnSpc>
              <a:buNone/>
            </a:pPr>
            <a:r>
              <a:rPr lang="en-US" sz="6000" b="1" i="0" dirty="0">
                <a:solidFill>
                  <a:srgbClr val="F6F4EF"/>
                </a:solidFill>
                <a:latin typeface="Cairo" pitchFamily="34" charset="0"/>
                <a:ea typeface="Cairo" pitchFamily="34" charset="-122"/>
                <a:cs typeface="Cairo" pitchFamily="34" charset="-120"/>
              </a:rPr>
              <a:t>Simple Bank Account</a:t>
            </a:r>
            <a:endParaRPr lang="en-US" sz="6000" dirty="0"/>
          </a:p>
        </p:txBody>
      </p:sp>
      <p:sp>
        <p:nvSpPr>
          <p:cNvPr id="7" name="Text 3"/>
          <p:cNvSpPr/>
          <p:nvPr/>
        </p:nvSpPr>
        <p:spPr>
          <a:xfrm>
            <a:off x="3457107" y="3208020"/>
            <a:ext cx="5277707" cy="41656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D9DEE8"/>
                </a:solidFill>
                <a:latin typeface="Cairo" pitchFamily="34" charset="0"/>
                <a:ea typeface="Cairo" pitchFamily="34" charset="-122"/>
                <a:cs typeface="Cairo" pitchFamily="34" charset="-120"/>
              </a:rPr>
              <a:t>نظام بنكي بسيط يعمل من سطر الأوامر</a:t>
            </a:r>
            <a:endParaRPr lang="en-US" sz="2200" dirty="0"/>
          </a:p>
        </p:txBody>
      </p:sp>
      <p:sp>
        <p:nvSpPr>
          <p:cNvPr id="8" name="Text 4"/>
          <p:cNvSpPr/>
          <p:nvPr/>
        </p:nvSpPr>
        <p:spPr>
          <a:xfrm>
            <a:off x="5619853" y="3802380"/>
            <a:ext cx="952214"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7FD1C7"/>
                </a:solidFill>
                <a:latin typeface="Cairo" pitchFamily="34" charset="0"/>
                <a:ea typeface="Cairo" pitchFamily="34" charset="-122"/>
                <a:cs typeface="Cairo" pitchFamily="34" charset="-120"/>
              </a:rPr>
              <a:t>Team 1</a:t>
            </a:r>
            <a:endParaRPr lang="en-US" sz="2000" dirty="0"/>
          </a:p>
        </p:txBody>
      </p:sp>
      <p:sp>
        <p:nvSpPr>
          <p:cNvPr id="9" name="Text 5"/>
          <p:cNvSpPr/>
          <p:nvPr/>
        </p:nvSpPr>
        <p:spPr>
          <a:xfrm>
            <a:off x="708104" y="4361180"/>
            <a:ext cx="2945289" cy="375920"/>
          </a:xfrm>
          <a:prstGeom prst="roundRect">
            <a:avLst>
              <a:gd name="adj" fmla="val 50000"/>
            </a:avLst>
          </a:prstGeom>
          <a:solidFill>
            <a:srgbClr val="24365A"/>
          </a:solidFill>
          <a:ln/>
        </p:spPr>
        <p:txBody>
          <a:bodyPr wrap="none" lIns="0" tIns="0" rIns="0" bIns="0" rtlCol="0" anchor="ctr">
            <a:normAutofit/>
          </a:bodyPr>
          <a:lstStyle/>
          <a:p>
            <a:pPr algn="ctr" indent="0" marL="0">
              <a:lnSpc>
                <a:spcPts val="1960"/>
              </a:lnSpc>
              <a:buNone/>
            </a:pPr>
            <a:r>
              <a:rPr lang="en-US" sz="1400" dirty="0">
                <a:solidFill>
                  <a:srgbClr val="F6F4EF"/>
                </a:solidFill>
                <a:latin typeface="Cairo" pitchFamily="34" charset="0"/>
                <a:ea typeface="Cairo" pitchFamily="34" charset="-122"/>
                <a:cs typeface="Cairo" pitchFamily="34" charset="-120"/>
              </a:rPr>
              <a:t>1 · Abdelrahman mohamed Safwat</a:t>
            </a:r>
            <a:endParaRPr lang="en-US" sz="1400" dirty="0"/>
          </a:p>
        </p:txBody>
      </p:sp>
      <p:sp>
        <p:nvSpPr>
          <p:cNvPr id="10" name="Text 6"/>
          <p:cNvSpPr/>
          <p:nvPr/>
        </p:nvSpPr>
        <p:spPr>
          <a:xfrm>
            <a:off x="3754993" y="4361180"/>
            <a:ext cx="2973943" cy="375920"/>
          </a:xfrm>
          <a:prstGeom prst="roundRect">
            <a:avLst>
              <a:gd name="adj" fmla="val 50000"/>
            </a:avLst>
          </a:prstGeom>
          <a:solidFill>
            <a:srgbClr val="24365A"/>
          </a:solidFill>
          <a:ln/>
        </p:spPr>
        <p:txBody>
          <a:bodyPr wrap="none" lIns="0" tIns="0" rIns="0" bIns="0" rtlCol="0" anchor="ctr">
            <a:normAutofit/>
          </a:bodyPr>
          <a:lstStyle/>
          <a:p>
            <a:pPr algn="ctr" indent="0" marL="0">
              <a:lnSpc>
                <a:spcPts val="1960"/>
              </a:lnSpc>
              <a:buNone/>
            </a:pPr>
            <a:r>
              <a:rPr lang="en-US" sz="1400" dirty="0">
                <a:solidFill>
                  <a:srgbClr val="F6F4EF"/>
                </a:solidFill>
                <a:latin typeface="Cairo" pitchFamily="34" charset="0"/>
                <a:ea typeface="Cairo" pitchFamily="34" charset="-122"/>
                <a:cs typeface="Cairo" pitchFamily="34" charset="-120"/>
              </a:rPr>
              <a:t>2 · Abdallah Saeed Abdallah Atallah</a:t>
            </a:r>
            <a:endParaRPr lang="en-US" sz="1400" dirty="0"/>
          </a:p>
        </p:txBody>
      </p:sp>
      <p:sp>
        <p:nvSpPr>
          <p:cNvPr id="11" name="Text 7"/>
          <p:cNvSpPr/>
          <p:nvPr/>
        </p:nvSpPr>
        <p:spPr>
          <a:xfrm>
            <a:off x="6830537" y="4361180"/>
            <a:ext cx="2195830" cy="375920"/>
          </a:xfrm>
          <a:prstGeom prst="roundRect">
            <a:avLst>
              <a:gd name="adj" fmla="val 50000"/>
            </a:avLst>
          </a:prstGeom>
          <a:solidFill>
            <a:srgbClr val="24365A"/>
          </a:solidFill>
          <a:ln/>
        </p:spPr>
        <p:txBody>
          <a:bodyPr wrap="none" lIns="0" tIns="0" rIns="0" bIns="0" rtlCol="0" anchor="ctr">
            <a:normAutofit/>
          </a:bodyPr>
          <a:lstStyle/>
          <a:p>
            <a:pPr algn="ctr" indent="0" marL="0">
              <a:lnSpc>
                <a:spcPts val="1960"/>
              </a:lnSpc>
              <a:buNone/>
            </a:pPr>
            <a:r>
              <a:rPr lang="en-US" sz="1400" dirty="0">
                <a:solidFill>
                  <a:srgbClr val="F6F4EF"/>
                </a:solidFill>
                <a:latin typeface="Cairo" pitchFamily="34" charset="0"/>
                <a:ea typeface="Cairo" pitchFamily="34" charset="-122"/>
                <a:cs typeface="Cairo" pitchFamily="34" charset="-120"/>
              </a:rPr>
              <a:t>3 · Mohamed Sami Fekry</a:t>
            </a:r>
            <a:endParaRPr lang="en-US" sz="1400" dirty="0"/>
          </a:p>
        </p:txBody>
      </p:sp>
      <p:sp>
        <p:nvSpPr>
          <p:cNvPr id="12" name="Text 8"/>
          <p:cNvSpPr/>
          <p:nvPr/>
        </p:nvSpPr>
        <p:spPr>
          <a:xfrm>
            <a:off x="9127966" y="4361180"/>
            <a:ext cx="2355850" cy="375920"/>
          </a:xfrm>
          <a:prstGeom prst="roundRect">
            <a:avLst>
              <a:gd name="adj" fmla="val 50000"/>
            </a:avLst>
          </a:prstGeom>
          <a:solidFill>
            <a:srgbClr val="24365A"/>
          </a:solidFill>
          <a:ln/>
        </p:spPr>
        <p:txBody>
          <a:bodyPr wrap="none" lIns="0" tIns="0" rIns="0" bIns="0" rtlCol="0" anchor="ctr">
            <a:normAutofit/>
          </a:bodyPr>
          <a:lstStyle/>
          <a:p>
            <a:pPr algn="ctr" indent="0" marL="0">
              <a:lnSpc>
                <a:spcPts val="1960"/>
              </a:lnSpc>
              <a:buNone/>
            </a:pPr>
            <a:r>
              <a:rPr lang="en-US" sz="1400" dirty="0">
                <a:solidFill>
                  <a:srgbClr val="F6F4EF"/>
                </a:solidFill>
                <a:latin typeface="Cairo" pitchFamily="34" charset="0"/>
                <a:ea typeface="Cairo" pitchFamily="34" charset="-122"/>
                <a:cs typeface="Cairo" pitchFamily="34" charset="-120"/>
              </a:rPr>
              <a:t>4 · Ahmed Mohamed Ezzat</a:t>
            </a:r>
            <a:endParaRPr lang="en-US" sz="1400" dirty="0"/>
          </a:p>
        </p:txBody>
      </p:sp>
      <p:sp>
        <p:nvSpPr>
          <p:cNvPr id="13" name="Text 9"/>
          <p:cNvSpPr/>
          <p:nvPr/>
        </p:nvSpPr>
        <p:spPr>
          <a:xfrm>
            <a:off x="4972685" y="4838700"/>
            <a:ext cx="2246551" cy="375920"/>
          </a:xfrm>
          <a:prstGeom prst="roundRect">
            <a:avLst>
              <a:gd name="adj" fmla="val 50000"/>
            </a:avLst>
          </a:prstGeom>
          <a:solidFill>
            <a:srgbClr val="24365A"/>
          </a:solidFill>
          <a:ln/>
        </p:spPr>
        <p:txBody>
          <a:bodyPr wrap="none" lIns="0" tIns="0" rIns="0" bIns="0" rtlCol="0" anchor="ctr">
            <a:normAutofit/>
          </a:bodyPr>
          <a:lstStyle/>
          <a:p>
            <a:pPr algn="ctr" indent="0" marL="0">
              <a:lnSpc>
                <a:spcPts val="1960"/>
              </a:lnSpc>
              <a:buNone/>
            </a:pPr>
            <a:r>
              <a:rPr lang="en-US" sz="1400" dirty="0">
                <a:solidFill>
                  <a:srgbClr val="F6F4EF"/>
                </a:solidFill>
                <a:latin typeface="Cairo" pitchFamily="34" charset="0"/>
                <a:ea typeface="Cairo" pitchFamily="34" charset="-122"/>
                <a:cs typeface="Cairo" pitchFamily="34" charset="-120"/>
              </a:rPr>
              <a:t>5 · Abdallah Ayman Fathy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FFFFFF"/>
          </a:solidFill>
          <a:ln/>
        </p:spPr>
      </p:sp>
      <p:sp>
        <p:nvSpPr>
          <p:cNvPr id="3" name="Shape 1"/>
          <p:cNvSpPr/>
          <p:nvPr/>
        </p:nvSpPr>
        <p:spPr>
          <a:xfrm>
            <a:off x="0" y="939800"/>
            <a:ext cx="12192000" cy="0"/>
          </a:xfrm>
          <a:prstGeom prst="line">
            <a:avLst/>
          </a:prstGeom>
          <a:noFill/>
          <a:ln w="25400">
            <a:solidFill>
              <a:srgbClr val="8A2432"/>
            </a:solidFill>
            <a:prstDash val="solid"/>
          </a:ln>
        </p:spPr>
      </p:sp>
      <p:pic>
        <p:nvPicPr>
          <p:cNvPr id="4" name="Image 0" descr="شعار ITC">    </p:cNvPr>
          <p:cNvPicPr>
            <a:picLocks noChangeAspect="1"/>
          </p:cNvPicPr>
          <p:nvPr/>
        </p:nvPicPr>
        <p:blipFill>
          <a:blip r:embed="rId1"/>
          <a:srcRect l="0" r="0" t="0" b="0"/>
          <a:stretch/>
        </p:blipFill>
        <p:spPr>
          <a:xfrm>
            <a:off x="812800" y="63500"/>
            <a:ext cx="825500" cy="825500"/>
          </a:xfrm>
          <a:prstGeom prst="rect">
            <a:avLst/>
          </a:prstGeom>
        </p:spPr>
      </p:pic>
      <p:pic>
        <p:nvPicPr>
          <p:cNvPr id="5" name="Image 1" descr="شعار رواد مصر الرقمية">    </p:cNvPr>
          <p:cNvPicPr>
            <a:picLocks noChangeAspect="1"/>
          </p:cNvPicPr>
          <p:nvPr/>
        </p:nvPicPr>
        <p:blipFill>
          <a:blip r:embed="rId2"/>
          <a:srcRect l="0" r="0" t="-223" b="-223"/>
          <a:stretch/>
        </p:blipFill>
        <p:spPr>
          <a:xfrm>
            <a:off x="10553700" y="63500"/>
            <a:ext cx="825500" cy="825500"/>
          </a:xfrm>
          <a:prstGeom prst="rect">
            <a:avLst/>
          </a:prstGeom>
        </p:spPr>
      </p:pic>
      <p:sp>
        <p:nvSpPr>
          <p:cNvPr id="6" name="Text 2"/>
          <p:cNvSpPr/>
          <p:nvPr/>
        </p:nvSpPr>
        <p:spPr>
          <a:xfrm>
            <a:off x="3479800" y="292100"/>
            <a:ext cx="5232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33B"/>
                </a:solidFill>
                <a:latin typeface="Cairo" pitchFamily="34" charset="0"/>
                <a:ea typeface="Cairo" pitchFamily="34" charset="-122"/>
                <a:cs typeface="Cairo" pitchFamily="34" charset="-120"/>
              </a:rPr>
              <a:t>Simple Bank Account</a:t>
            </a:r>
            <a:endParaRPr lang="en-US" sz="1800" dirty="0"/>
          </a:p>
        </p:txBody>
      </p:sp>
      <p:sp>
        <p:nvSpPr>
          <p:cNvPr id="7" name="Text 3"/>
          <p:cNvSpPr/>
          <p:nvPr>
            <p:ph type="title"/>
          </p:nvPr>
        </p:nvSpPr>
        <p:spPr>
          <a:xfrm>
            <a:off x="495808" y="1333500"/>
            <a:ext cx="10883392" cy="551180"/>
          </a:xfrm>
          <a:prstGeom prst="rect">
            <a:avLst/>
          </a:prstGeom>
          <a:noFill/>
          <a:ln/>
        </p:spPr>
        <p:txBody>
          <a:bodyPr wrap="square" lIns="0" tIns="0" rIns="0" bIns="0" rtlCol="0" anchor="t">
            <a:normAutofit/>
          </a:bodyPr>
          <a:lstStyle/>
          <a:p>
            <a:pPr algn="r" indent="0" marL="0">
              <a:lnSpc>
                <a:spcPts val="4140"/>
              </a:lnSpc>
              <a:buNone/>
            </a:pPr>
            <a:r>
              <a:rPr lang="en-US" sz="3600" b="1" i="0" dirty="0">
                <a:solidFill>
                  <a:srgbClr val="17233B"/>
                </a:solidFill>
                <a:latin typeface="Cairo" pitchFamily="34" charset="0"/>
                <a:ea typeface="Cairo" pitchFamily="34" charset="-122"/>
                <a:cs typeface="Cairo" pitchFamily="34" charset="-120"/>
              </a:rPr>
              <a:t>فكرة المشروع</a:t>
            </a:r>
            <a:endParaRPr lang="en-US" sz="3600" dirty="0"/>
          </a:p>
        </p:txBody>
      </p:sp>
      <p:sp>
        <p:nvSpPr>
          <p:cNvPr id="8" name="Text 4"/>
          <p:cNvSpPr/>
          <p:nvPr/>
        </p:nvSpPr>
        <p:spPr>
          <a:xfrm>
            <a:off x="495808" y="2164080"/>
            <a:ext cx="10883392" cy="863600"/>
          </a:xfrm>
          <a:prstGeom prst="rect">
            <a:avLst/>
          </a:prstGeom>
          <a:noFill/>
          <a:ln/>
        </p:spPr>
        <p:txBody>
          <a:bodyPr wrap="square" lIns="0" tIns="0" rIns="0" bIns="0" rtlCol="0" anchor="t">
            <a:normAutofit/>
          </a:bodyPr>
          <a:lstStyle/>
          <a:p>
            <a:pPr algn="r" indent="0" marL="0">
              <a:lnSpc>
                <a:spcPts val="3300"/>
              </a:lnSpc>
              <a:buNone/>
            </a:pPr>
            <a:r>
              <a:rPr lang="en-US" sz="2200" dirty="0">
                <a:solidFill>
                  <a:srgbClr val="17233B"/>
                </a:solidFill>
                <a:latin typeface="Cairo" pitchFamily="34" charset="0"/>
                <a:ea typeface="Cairo" pitchFamily="34" charset="-122"/>
                <a:cs typeface="Cairo" pitchFamily="34" charset="-120"/>
              </a:rPr>
              <a:t>تطبيق Console بيحاكي حسابًا بنكيًا: بتعرض الرصيد، بتودع، بتسحب، وبتخرج، مع التحقق من كل إدخال.</a:t>
            </a:r>
            <a:endParaRPr lang="en-US" sz="2200" dirty="0"/>
          </a:p>
        </p:txBody>
      </p:sp>
      <p:sp>
        <p:nvSpPr>
          <p:cNvPr id="9" name="Shape 5"/>
          <p:cNvSpPr/>
          <p:nvPr/>
        </p:nvSpPr>
        <p:spPr>
          <a:xfrm>
            <a:off x="815975" y="3310255"/>
            <a:ext cx="3380264" cy="1802130"/>
          </a:xfrm>
          <a:prstGeom prst="roundRect">
            <a:avLst>
              <a:gd name="adj" fmla="val 5462"/>
            </a:avLst>
          </a:prstGeom>
          <a:solidFill>
            <a:srgbClr val="FFFFFF"/>
          </a:solidFill>
          <a:ln w="6350">
            <a:solidFill>
              <a:srgbClr val="E1DDD2"/>
            </a:solidFill>
            <a:prstDash val="solid"/>
          </a:ln>
        </p:spPr>
      </p:sp>
      <p:sp>
        <p:nvSpPr>
          <p:cNvPr id="10" name="Text 6"/>
          <p:cNvSpPr/>
          <p:nvPr/>
        </p:nvSpPr>
        <p:spPr>
          <a:xfrm>
            <a:off x="985826" y="3566160"/>
            <a:ext cx="2954507" cy="360680"/>
          </a:xfrm>
          <a:prstGeom prst="rect">
            <a:avLst/>
          </a:prstGeom>
          <a:noFill/>
          <a:ln/>
        </p:spPr>
        <p:txBody>
          <a:bodyPr wrap="square" lIns="0" tIns="0" rIns="0" bIns="0" rtlCol="0" anchor="t">
            <a:normAutofit/>
          </a:bodyPr>
          <a:lstStyle/>
          <a:p>
            <a:pPr algn="r" indent="0" marL="0">
              <a:lnSpc>
                <a:spcPts val="2640"/>
              </a:lnSpc>
              <a:buNone/>
            </a:pPr>
            <a:r>
              <a:rPr lang="en-US" sz="2200" b="1" dirty="0">
                <a:solidFill>
                  <a:srgbClr val="8A2432"/>
                </a:solidFill>
                <a:latin typeface="Cairo" pitchFamily="34" charset="0"/>
                <a:ea typeface="Cairo" pitchFamily="34" charset="-122"/>
                <a:cs typeface="Cairo" pitchFamily="34" charset="-120"/>
              </a:rPr>
              <a:t>النتيجة</a:t>
            </a:r>
            <a:endParaRPr lang="en-US" sz="2200" dirty="0"/>
          </a:p>
        </p:txBody>
      </p:sp>
      <p:sp>
        <p:nvSpPr>
          <p:cNvPr id="11" name="Text 7"/>
          <p:cNvSpPr/>
          <p:nvPr/>
        </p:nvSpPr>
        <p:spPr>
          <a:xfrm>
            <a:off x="985826" y="4003040"/>
            <a:ext cx="2954507" cy="87884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4A5568"/>
                </a:solidFill>
                <a:latin typeface="Cairo" pitchFamily="34" charset="0"/>
                <a:ea typeface="Cairo" pitchFamily="34" charset="-122"/>
                <a:cs typeface="Cairo" pitchFamily="34" charset="-120"/>
              </a:rPr>
              <a:t>برنامج بيشتغل كامل ومقسّم لطبقات واضحة ومتوافقة مع بعض.</a:t>
            </a:r>
            <a:endParaRPr lang="en-US" sz="1600" dirty="0"/>
          </a:p>
        </p:txBody>
      </p:sp>
      <p:sp>
        <p:nvSpPr>
          <p:cNvPr id="12" name="Shape 8"/>
          <p:cNvSpPr/>
          <p:nvPr/>
        </p:nvSpPr>
        <p:spPr>
          <a:xfrm>
            <a:off x="4405789" y="3310255"/>
            <a:ext cx="3380343" cy="1802130"/>
          </a:xfrm>
          <a:prstGeom prst="roundRect">
            <a:avLst>
              <a:gd name="adj" fmla="val 5462"/>
            </a:avLst>
          </a:prstGeom>
          <a:solidFill>
            <a:srgbClr val="FFFFFF"/>
          </a:solidFill>
          <a:ln w="6350">
            <a:solidFill>
              <a:srgbClr val="E1DDD2"/>
            </a:solidFill>
            <a:prstDash val="solid"/>
          </a:ln>
        </p:spPr>
      </p:sp>
      <p:sp>
        <p:nvSpPr>
          <p:cNvPr id="13" name="Text 9"/>
          <p:cNvSpPr/>
          <p:nvPr/>
        </p:nvSpPr>
        <p:spPr>
          <a:xfrm>
            <a:off x="4575638" y="3566160"/>
            <a:ext cx="2954589" cy="360680"/>
          </a:xfrm>
          <a:prstGeom prst="rect">
            <a:avLst/>
          </a:prstGeom>
          <a:noFill/>
          <a:ln/>
        </p:spPr>
        <p:txBody>
          <a:bodyPr wrap="square" lIns="0" tIns="0" rIns="0" bIns="0" rtlCol="0" anchor="t">
            <a:normAutofit/>
          </a:bodyPr>
          <a:lstStyle/>
          <a:p>
            <a:pPr algn="r" indent="0" marL="0">
              <a:lnSpc>
                <a:spcPts val="2640"/>
              </a:lnSpc>
              <a:buNone/>
            </a:pPr>
            <a:r>
              <a:rPr lang="en-US" sz="2200" b="1" dirty="0">
                <a:solidFill>
                  <a:srgbClr val="8A2432"/>
                </a:solidFill>
                <a:latin typeface="Cairo" pitchFamily="34" charset="0"/>
                <a:ea typeface="Cairo" pitchFamily="34" charset="-122"/>
                <a:cs typeface="Cairo" pitchFamily="34" charset="-120"/>
              </a:rPr>
              <a:t>طريقة الشغل</a:t>
            </a:r>
            <a:endParaRPr lang="en-US" sz="2200" dirty="0"/>
          </a:p>
        </p:txBody>
      </p:sp>
      <p:sp>
        <p:nvSpPr>
          <p:cNvPr id="14" name="Text 10"/>
          <p:cNvSpPr/>
          <p:nvPr/>
        </p:nvSpPr>
        <p:spPr>
          <a:xfrm>
            <a:off x="4575638" y="4003040"/>
            <a:ext cx="2954589" cy="5943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4A5568"/>
                </a:solidFill>
                <a:latin typeface="Cairo" pitchFamily="34" charset="0"/>
                <a:ea typeface="Cairo" pitchFamily="34" charset="-122"/>
                <a:cs typeface="Cairo" pitchFamily="34" charset="-120"/>
              </a:rPr>
              <a:t>فريق من 5 أعضاء، وكل عضو مسؤول عن طبقة من المشروع.</a:t>
            </a:r>
            <a:endParaRPr lang="en-US" sz="1600" dirty="0"/>
          </a:p>
        </p:txBody>
      </p:sp>
      <p:sp>
        <p:nvSpPr>
          <p:cNvPr id="15" name="Shape 11"/>
          <p:cNvSpPr/>
          <p:nvPr/>
        </p:nvSpPr>
        <p:spPr>
          <a:xfrm>
            <a:off x="7995682" y="3310255"/>
            <a:ext cx="3380343" cy="1802130"/>
          </a:xfrm>
          <a:prstGeom prst="roundRect">
            <a:avLst>
              <a:gd name="adj" fmla="val 5462"/>
            </a:avLst>
          </a:prstGeom>
          <a:solidFill>
            <a:srgbClr val="FFFFFF"/>
          </a:solidFill>
          <a:ln w="6350">
            <a:solidFill>
              <a:srgbClr val="E1DDD2"/>
            </a:solidFill>
            <a:prstDash val="solid"/>
          </a:ln>
        </p:spPr>
      </p:sp>
      <p:sp>
        <p:nvSpPr>
          <p:cNvPr id="16" name="Text 12"/>
          <p:cNvSpPr/>
          <p:nvPr/>
        </p:nvSpPr>
        <p:spPr>
          <a:xfrm>
            <a:off x="8165531" y="3566160"/>
            <a:ext cx="2954589" cy="360680"/>
          </a:xfrm>
          <a:prstGeom prst="rect">
            <a:avLst/>
          </a:prstGeom>
          <a:noFill/>
          <a:ln/>
        </p:spPr>
        <p:txBody>
          <a:bodyPr wrap="square" lIns="0" tIns="0" rIns="0" bIns="0" rtlCol="0" anchor="t">
            <a:normAutofit/>
          </a:bodyPr>
          <a:lstStyle/>
          <a:p>
            <a:pPr algn="r" indent="0" marL="0">
              <a:lnSpc>
                <a:spcPts val="2640"/>
              </a:lnSpc>
              <a:buNone/>
            </a:pPr>
            <a:r>
              <a:rPr lang="en-US" sz="2200" b="1" dirty="0">
                <a:solidFill>
                  <a:srgbClr val="8A2432"/>
                </a:solidFill>
                <a:latin typeface="Cairo" pitchFamily="34" charset="0"/>
                <a:ea typeface="Cairo" pitchFamily="34" charset="-122"/>
                <a:cs typeface="Cairo" pitchFamily="34" charset="-120"/>
              </a:rPr>
              <a:t>الهدف</a:t>
            </a:r>
            <a:endParaRPr lang="en-US" sz="2200" dirty="0"/>
          </a:p>
        </p:txBody>
      </p:sp>
      <p:sp>
        <p:nvSpPr>
          <p:cNvPr id="17" name="Text 13"/>
          <p:cNvSpPr/>
          <p:nvPr/>
        </p:nvSpPr>
        <p:spPr>
          <a:xfrm>
            <a:off x="8165531" y="4003040"/>
            <a:ext cx="2954589" cy="5943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4A5568"/>
                </a:solidFill>
                <a:latin typeface="Cairo" pitchFamily="34" charset="0"/>
                <a:ea typeface="Cairo" pitchFamily="34" charset="-122"/>
                <a:cs typeface="Cairo" pitchFamily="34" charset="-120"/>
              </a:rPr>
              <a:t>تطبيق مبادئ البرمجة كائنية التوجه (OOP) في C# بشكل عملي.</a:t>
            </a:r>
            <a:endParaRPr lang="en-US" sz="1600" dirty="0"/>
          </a:p>
        </p:txBody>
      </p:sp>
      <p:sp>
        <p:nvSpPr>
          <p:cNvPr id="18" name="Text 14"/>
          <p:cNvSpPr/>
          <p:nvPr/>
        </p:nvSpPr>
        <p:spPr>
          <a:xfrm>
            <a:off x="812800" y="6238241"/>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169"/>
                </a:solidFill>
                <a:latin typeface="Cairo" pitchFamily="34" charset="0"/>
                <a:ea typeface="Cairo" pitchFamily="34" charset="-122"/>
                <a:cs typeface="Cairo" pitchFamily="34" charset="-120"/>
              </a:rPr>
              <a:t>Team 1</a:t>
            </a:r>
            <a:endParaRPr lang="en-US" sz="1200" dirty="0"/>
          </a:p>
        </p:txBody>
      </p:sp>
      <p:sp>
        <p:nvSpPr>
          <p:cNvPr id="19" name="Text 15"/>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169"/>
                </a:solidFill>
                <a:latin typeface="Cairo" pitchFamily="34" charset="0"/>
                <a:ea typeface="Cairo" pitchFamily="34" charset="-122"/>
                <a:cs typeface="Cairo"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8DE"/>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FFFFFF"/>
          </a:solidFill>
          <a:ln/>
        </p:spPr>
      </p:sp>
      <p:sp>
        <p:nvSpPr>
          <p:cNvPr id="3" name="Shape 1"/>
          <p:cNvSpPr/>
          <p:nvPr/>
        </p:nvSpPr>
        <p:spPr>
          <a:xfrm>
            <a:off x="0" y="939800"/>
            <a:ext cx="12192000" cy="0"/>
          </a:xfrm>
          <a:prstGeom prst="line">
            <a:avLst/>
          </a:prstGeom>
          <a:noFill/>
          <a:ln w="25400">
            <a:solidFill>
              <a:srgbClr val="8A2432"/>
            </a:solidFill>
            <a:prstDash val="solid"/>
          </a:ln>
        </p:spPr>
      </p:sp>
      <p:pic>
        <p:nvPicPr>
          <p:cNvPr id="4" name="Image 0" descr="شعار ITC">    </p:cNvPr>
          <p:cNvPicPr>
            <a:picLocks noChangeAspect="1"/>
          </p:cNvPicPr>
          <p:nvPr/>
        </p:nvPicPr>
        <p:blipFill>
          <a:blip r:embed="rId1"/>
          <a:srcRect l="0" r="0" t="0" b="0"/>
          <a:stretch/>
        </p:blipFill>
        <p:spPr>
          <a:xfrm>
            <a:off x="812800" y="63500"/>
            <a:ext cx="825500" cy="825500"/>
          </a:xfrm>
          <a:prstGeom prst="rect">
            <a:avLst/>
          </a:prstGeom>
        </p:spPr>
      </p:pic>
      <p:pic>
        <p:nvPicPr>
          <p:cNvPr id="5" name="Image 1" descr="شعار رواد مصر الرقمية">    </p:cNvPr>
          <p:cNvPicPr>
            <a:picLocks noChangeAspect="1"/>
          </p:cNvPicPr>
          <p:nvPr/>
        </p:nvPicPr>
        <p:blipFill>
          <a:blip r:embed="rId2"/>
          <a:srcRect l="0" r="0" t="-223" b="-223"/>
          <a:stretch/>
        </p:blipFill>
        <p:spPr>
          <a:xfrm>
            <a:off x="10553700" y="63500"/>
            <a:ext cx="825500" cy="825500"/>
          </a:xfrm>
          <a:prstGeom prst="rect">
            <a:avLst/>
          </a:prstGeom>
        </p:spPr>
      </p:pic>
      <p:sp>
        <p:nvSpPr>
          <p:cNvPr id="6" name="Text 2"/>
          <p:cNvSpPr/>
          <p:nvPr/>
        </p:nvSpPr>
        <p:spPr>
          <a:xfrm>
            <a:off x="3479800" y="292100"/>
            <a:ext cx="5232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33B"/>
                </a:solidFill>
                <a:latin typeface="Cairo" pitchFamily="34" charset="0"/>
                <a:ea typeface="Cairo" pitchFamily="34" charset="-122"/>
                <a:cs typeface="Cairo" pitchFamily="34" charset="-120"/>
              </a:rPr>
              <a:t>Simple Bank Account</a:t>
            </a:r>
            <a:endParaRPr lang="en-US" sz="1800" dirty="0"/>
          </a:p>
        </p:txBody>
      </p:sp>
      <p:sp>
        <p:nvSpPr>
          <p:cNvPr id="7" name="Text 3"/>
          <p:cNvSpPr/>
          <p:nvPr>
            <p:ph type="title"/>
          </p:nvPr>
        </p:nvSpPr>
        <p:spPr>
          <a:xfrm>
            <a:off x="495808" y="1333500"/>
            <a:ext cx="10883392" cy="551180"/>
          </a:xfrm>
          <a:prstGeom prst="rect">
            <a:avLst/>
          </a:prstGeom>
          <a:noFill/>
          <a:ln/>
        </p:spPr>
        <p:txBody>
          <a:bodyPr wrap="square" lIns="0" tIns="0" rIns="0" bIns="0" rtlCol="0" anchor="t">
            <a:normAutofit/>
          </a:bodyPr>
          <a:lstStyle/>
          <a:p>
            <a:pPr algn="r" indent="0" marL="0">
              <a:lnSpc>
                <a:spcPts val="4140"/>
              </a:lnSpc>
              <a:buNone/>
            </a:pPr>
            <a:r>
              <a:rPr lang="en-US" sz="3600" b="1" i="0" dirty="0">
                <a:solidFill>
                  <a:srgbClr val="17233B"/>
                </a:solidFill>
                <a:latin typeface="Cairo" pitchFamily="34" charset="0"/>
                <a:ea typeface="Cairo" pitchFamily="34" charset="-122"/>
                <a:cs typeface="Cairo" pitchFamily="34" charset="-120"/>
              </a:rPr>
              <a:t>المميزات</a:t>
            </a:r>
            <a:endParaRPr lang="en-US" sz="3600" dirty="0"/>
          </a:p>
        </p:txBody>
      </p:sp>
      <p:sp>
        <p:nvSpPr>
          <p:cNvPr id="8" name="Shape 4"/>
          <p:cNvSpPr/>
          <p:nvPr/>
        </p:nvSpPr>
        <p:spPr>
          <a:xfrm>
            <a:off x="812800" y="2164080"/>
            <a:ext cx="3386614" cy="1285240"/>
          </a:xfrm>
          <a:prstGeom prst="roundRect">
            <a:avLst>
              <a:gd name="adj" fmla="val 7905"/>
            </a:avLst>
          </a:prstGeom>
          <a:solidFill>
            <a:srgbClr val="FFFFFF"/>
          </a:solidFill>
          <a:ln/>
        </p:spPr>
      </p:sp>
      <p:sp>
        <p:nvSpPr>
          <p:cNvPr id="9" name="Text 5"/>
          <p:cNvSpPr/>
          <p:nvPr/>
        </p:nvSpPr>
        <p:spPr>
          <a:xfrm>
            <a:off x="926594" y="2367280"/>
            <a:ext cx="3069620" cy="330200"/>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8A2432"/>
                </a:solidFill>
                <a:latin typeface="Cairo" pitchFamily="34" charset="0"/>
                <a:ea typeface="Cairo" pitchFamily="34" charset="-122"/>
                <a:cs typeface="Cairo" pitchFamily="34" charset="-120"/>
              </a:rPr>
              <a:t>عرض الرصيد</a:t>
            </a:r>
            <a:endParaRPr lang="en-US" sz="2000" dirty="0"/>
          </a:p>
        </p:txBody>
      </p:sp>
      <p:sp>
        <p:nvSpPr>
          <p:cNvPr id="10" name="Text 6"/>
          <p:cNvSpPr/>
          <p:nvPr/>
        </p:nvSpPr>
        <p:spPr>
          <a:xfrm>
            <a:off x="926594" y="2748280"/>
            <a:ext cx="3069620" cy="52324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A5568"/>
                </a:solidFill>
                <a:latin typeface="Cairo" pitchFamily="34" charset="0"/>
                <a:ea typeface="Cairo" pitchFamily="34" charset="-122"/>
                <a:cs typeface="Cairo" pitchFamily="34" charset="-120"/>
              </a:rPr>
              <a:t>يعرض رقم الحساب والرصيد الحالي برقمين عشريين.</a:t>
            </a:r>
            <a:endParaRPr lang="en-US" sz="1400" dirty="0"/>
          </a:p>
        </p:txBody>
      </p:sp>
      <p:sp>
        <p:nvSpPr>
          <p:cNvPr id="11" name="Shape 7"/>
          <p:cNvSpPr/>
          <p:nvPr/>
        </p:nvSpPr>
        <p:spPr>
          <a:xfrm>
            <a:off x="4402614" y="2164080"/>
            <a:ext cx="3386693" cy="1285240"/>
          </a:xfrm>
          <a:prstGeom prst="roundRect">
            <a:avLst>
              <a:gd name="adj" fmla="val 7905"/>
            </a:avLst>
          </a:prstGeom>
          <a:solidFill>
            <a:srgbClr val="FFFFFF"/>
          </a:solidFill>
          <a:ln/>
        </p:spPr>
      </p:sp>
      <p:sp>
        <p:nvSpPr>
          <p:cNvPr id="12" name="Text 8"/>
          <p:cNvSpPr/>
          <p:nvPr/>
        </p:nvSpPr>
        <p:spPr>
          <a:xfrm>
            <a:off x="4516405" y="2367280"/>
            <a:ext cx="3069702" cy="330200"/>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8A2432"/>
                </a:solidFill>
                <a:latin typeface="Cairo" pitchFamily="34" charset="0"/>
                <a:ea typeface="Cairo" pitchFamily="34" charset="-122"/>
                <a:cs typeface="Cairo" pitchFamily="34" charset="-120"/>
              </a:rPr>
              <a:t>الإيداع</a:t>
            </a:r>
            <a:endParaRPr lang="en-US" sz="2000" dirty="0"/>
          </a:p>
        </p:txBody>
      </p:sp>
      <p:sp>
        <p:nvSpPr>
          <p:cNvPr id="13" name="Text 9"/>
          <p:cNvSpPr/>
          <p:nvPr/>
        </p:nvSpPr>
        <p:spPr>
          <a:xfrm>
            <a:off x="4516405" y="2748280"/>
            <a:ext cx="3069702"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A5568"/>
                </a:solidFill>
                <a:latin typeface="Cairo" pitchFamily="34" charset="0"/>
                <a:ea typeface="Cairo" pitchFamily="34" charset="-122"/>
                <a:cs typeface="Cairo" pitchFamily="34" charset="-120"/>
              </a:rPr>
              <a:t>يقبل أي مبلغ أكبر من صفر ويزوّد الرصيد.</a:t>
            </a:r>
            <a:endParaRPr lang="en-US" sz="1400" dirty="0"/>
          </a:p>
        </p:txBody>
      </p:sp>
      <p:sp>
        <p:nvSpPr>
          <p:cNvPr id="14" name="Shape 10"/>
          <p:cNvSpPr/>
          <p:nvPr/>
        </p:nvSpPr>
        <p:spPr>
          <a:xfrm>
            <a:off x="7992507" y="2164080"/>
            <a:ext cx="3386693" cy="1285240"/>
          </a:xfrm>
          <a:prstGeom prst="roundRect">
            <a:avLst>
              <a:gd name="adj" fmla="val 7905"/>
            </a:avLst>
          </a:prstGeom>
          <a:solidFill>
            <a:srgbClr val="FFFFFF"/>
          </a:solidFill>
          <a:ln/>
        </p:spPr>
      </p:sp>
      <p:sp>
        <p:nvSpPr>
          <p:cNvPr id="15" name="Text 11"/>
          <p:cNvSpPr/>
          <p:nvPr/>
        </p:nvSpPr>
        <p:spPr>
          <a:xfrm>
            <a:off x="8106298" y="2367280"/>
            <a:ext cx="3069702" cy="330200"/>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8A2432"/>
                </a:solidFill>
                <a:latin typeface="Cairo" pitchFamily="34" charset="0"/>
                <a:ea typeface="Cairo" pitchFamily="34" charset="-122"/>
                <a:cs typeface="Cairo" pitchFamily="34" charset="-120"/>
              </a:rPr>
              <a:t>السحب</a:t>
            </a:r>
            <a:endParaRPr lang="en-US" sz="2000" dirty="0"/>
          </a:p>
        </p:txBody>
      </p:sp>
      <p:sp>
        <p:nvSpPr>
          <p:cNvPr id="16" name="Text 12"/>
          <p:cNvSpPr/>
          <p:nvPr/>
        </p:nvSpPr>
        <p:spPr>
          <a:xfrm>
            <a:off x="8106298" y="2748280"/>
            <a:ext cx="3069702"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A5568"/>
                </a:solidFill>
                <a:latin typeface="Cairo" pitchFamily="34" charset="0"/>
                <a:ea typeface="Cairo" pitchFamily="34" charset="-122"/>
                <a:cs typeface="Cairo" pitchFamily="34" charset="-120"/>
              </a:rPr>
              <a:t>يرفض السحب لو المبلغ أكبر من الرصيد.</a:t>
            </a:r>
            <a:endParaRPr lang="en-US" sz="1400" dirty="0"/>
          </a:p>
        </p:txBody>
      </p:sp>
      <p:sp>
        <p:nvSpPr>
          <p:cNvPr id="17" name="Shape 13"/>
          <p:cNvSpPr/>
          <p:nvPr/>
        </p:nvSpPr>
        <p:spPr>
          <a:xfrm>
            <a:off x="812800" y="3652520"/>
            <a:ext cx="3386614" cy="1285240"/>
          </a:xfrm>
          <a:prstGeom prst="roundRect">
            <a:avLst>
              <a:gd name="adj" fmla="val 7905"/>
            </a:avLst>
          </a:prstGeom>
          <a:solidFill>
            <a:srgbClr val="FFFFFF"/>
          </a:solidFill>
          <a:ln/>
        </p:spPr>
      </p:sp>
      <p:sp>
        <p:nvSpPr>
          <p:cNvPr id="18" name="Text 14"/>
          <p:cNvSpPr/>
          <p:nvPr/>
        </p:nvSpPr>
        <p:spPr>
          <a:xfrm>
            <a:off x="926594" y="3855720"/>
            <a:ext cx="3069620" cy="330200"/>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8A2432"/>
                </a:solidFill>
                <a:latin typeface="Cairo" pitchFamily="34" charset="0"/>
                <a:ea typeface="Cairo" pitchFamily="34" charset="-122"/>
                <a:cs typeface="Cairo" pitchFamily="34" charset="-120"/>
              </a:rPr>
              <a:t>حماية الرصيد</a:t>
            </a:r>
            <a:endParaRPr lang="en-US" sz="2000" dirty="0"/>
          </a:p>
        </p:txBody>
      </p:sp>
      <p:sp>
        <p:nvSpPr>
          <p:cNvPr id="19" name="Text 15"/>
          <p:cNvSpPr/>
          <p:nvPr/>
        </p:nvSpPr>
        <p:spPr>
          <a:xfrm>
            <a:off x="926594" y="4236720"/>
            <a:ext cx="3069620" cy="52324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A5568"/>
                </a:solidFill>
                <a:latin typeface="Cairo" pitchFamily="34" charset="0"/>
                <a:ea typeface="Cairo" pitchFamily="34" charset="-122"/>
                <a:cs typeface="Cairo" pitchFamily="34" charset="-120"/>
              </a:rPr>
              <a:t>الرصيد مش بيتعدل مباشرة من برّه الكلاس (Encapsulation).</a:t>
            </a:r>
            <a:endParaRPr lang="en-US" sz="1400" dirty="0"/>
          </a:p>
        </p:txBody>
      </p:sp>
      <p:sp>
        <p:nvSpPr>
          <p:cNvPr id="20" name="Shape 16"/>
          <p:cNvSpPr/>
          <p:nvPr/>
        </p:nvSpPr>
        <p:spPr>
          <a:xfrm>
            <a:off x="4402614" y="3652520"/>
            <a:ext cx="3386693" cy="1285240"/>
          </a:xfrm>
          <a:prstGeom prst="roundRect">
            <a:avLst>
              <a:gd name="adj" fmla="val 7905"/>
            </a:avLst>
          </a:prstGeom>
          <a:solidFill>
            <a:srgbClr val="FFFFFF"/>
          </a:solidFill>
          <a:ln/>
        </p:spPr>
      </p:sp>
      <p:sp>
        <p:nvSpPr>
          <p:cNvPr id="21" name="Text 17"/>
          <p:cNvSpPr/>
          <p:nvPr/>
        </p:nvSpPr>
        <p:spPr>
          <a:xfrm>
            <a:off x="4516405" y="3855720"/>
            <a:ext cx="3069702" cy="330200"/>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8A2432"/>
                </a:solidFill>
                <a:latin typeface="Cairo" pitchFamily="34" charset="0"/>
                <a:ea typeface="Cairo" pitchFamily="34" charset="-122"/>
                <a:cs typeface="Cairo" pitchFamily="34" charset="-120"/>
              </a:rPr>
              <a:t>التحقق من الإدخال</a:t>
            </a:r>
            <a:endParaRPr lang="en-US" sz="2000" dirty="0"/>
          </a:p>
        </p:txBody>
      </p:sp>
      <p:sp>
        <p:nvSpPr>
          <p:cNvPr id="22" name="Text 18"/>
          <p:cNvSpPr/>
          <p:nvPr/>
        </p:nvSpPr>
        <p:spPr>
          <a:xfrm>
            <a:off x="4516405" y="4236720"/>
            <a:ext cx="3069702" cy="52324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A5568"/>
                </a:solidFill>
                <a:latin typeface="Cairo" pitchFamily="34" charset="0"/>
                <a:ea typeface="Cairo" pitchFamily="34" charset="-122"/>
                <a:cs typeface="Cairo" pitchFamily="34" charset="-120"/>
              </a:rPr>
              <a:t>الحروف والمبالغ الصفر والسالبة مرفوضة، والسؤال بيتكرر.</a:t>
            </a:r>
            <a:endParaRPr lang="en-US" sz="1400" dirty="0"/>
          </a:p>
        </p:txBody>
      </p:sp>
      <p:sp>
        <p:nvSpPr>
          <p:cNvPr id="23" name="Shape 19"/>
          <p:cNvSpPr/>
          <p:nvPr/>
        </p:nvSpPr>
        <p:spPr>
          <a:xfrm>
            <a:off x="7992507" y="3652520"/>
            <a:ext cx="3386693" cy="1285240"/>
          </a:xfrm>
          <a:prstGeom prst="roundRect">
            <a:avLst>
              <a:gd name="adj" fmla="val 7905"/>
            </a:avLst>
          </a:prstGeom>
          <a:solidFill>
            <a:srgbClr val="FFFFFF"/>
          </a:solidFill>
          <a:ln/>
        </p:spPr>
      </p:sp>
      <p:sp>
        <p:nvSpPr>
          <p:cNvPr id="24" name="Text 20"/>
          <p:cNvSpPr/>
          <p:nvPr/>
        </p:nvSpPr>
        <p:spPr>
          <a:xfrm>
            <a:off x="8106298" y="3855720"/>
            <a:ext cx="3069702" cy="330200"/>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8A2432"/>
                </a:solidFill>
                <a:latin typeface="Cairo" pitchFamily="34" charset="0"/>
                <a:ea typeface="Cairo" pitchFamily="34" charset="-122"/>
                <a:cs typeface="Cairo" pitchFamily="34" charset="-120"/>
              </a:rPr>
              <a:t>رسائل ملوّنة</a:t>
            </a:r>
            <a:endParaRPr lang="en-US" sz="2000" dirty="0"/>
          </a:p>
        </p:txBody>
      </p:sp>
      <p:sp>
        <p:nvSpPr>
          <p:cNvPr id="25" name="Text 21"/>
          <p:cNvSpPr/>
          <p:nvPr/>
        </p:nvSpPr>
        <p:spPr>
          <a:xfrm>
            <a:off x="8106298" y="4236720"/>
            <a:ext cx="3069702" cy="52324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A5568"/>
                </a:solidFill>
                <a:latin typeface="Cairo" pitchFamily="34" charset="0"/>
                <a:ea typeface="Cairo" pitchFamily="34" charset="-122"/>
                <a:cs typeface="Cairo" pitchFamily="34" charset="-120"/>
              </a:rPr>
              <a:t>أخضر للنجاح، أحمر للخطأ، وسماوي للمعلومات.</a:t>
            </a:r>
            <a:endParaRPr lang="en-US" sz="1400" dirty="0"/>
          </a:p>
        </p:txBody>
      </p:sp>
      <p:sp>
        <p:nvSpPr>
          <p:cNvPr id="26" name="Text 22"/>
          <p:cNvSpPr/>
          <p:nvPr/>
        </p:nvSpPr>
        <p:spPr>
          <a:xfrm>
            <a:off x="812800" y="6238241"/>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169"/>
                </a:solidFill>
                <a:latin typeface="Cairo" pitchFamily="34" charset="0"/>
                <a:ea typeface="Cairo" pitchFamily="34" charset="-122"/>
                <a:cs typeface="Cairo" pitchFamily="34" charset="-120"/>
              </a:rPr>
              <a:t>Team 1</a:t>
            </a:r>
            <a:endParaRPr lang="en-US" sz="1200" dirty="0"/>
          </a:p>
        </p:txBody>
      </p:sp>
      <p:sp>
        <p:nvSpPr>
          <p:cNvPr id="27" name="Text 23"/>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169"/>
                </a:solidFill>
                <a:latin typeface="Cairo" pitchFamily="34" charset="0"/>
                <a:ea typeface="Cairo" pitchFamily="34" charset="-122"/>
                <a:cs typeface="Cairo"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FFFFFF"/>
          </a:solidFill>
          <a:ln/>
        </p:spPr>
      </p:sp>
      <p:sp>
        <p:nvSpPr>
          <p:cNvPr id="3" name="Shape 1"/>
          <p:cNvSpPr/>
          <p:nvPr/>
        </p:nvSpPr>
        <p:spPr>
          <a:xfrm>
            <a:off x="0" y="939800"/>
            <a:ext cx="12192000" cy="0"/>
          </a:xfrm>
          <a:prstGeom prst="line">
            <a:avLst/>
          </a:prstGeom>
          <a:noFill/>
          <a:ln w="25400">
            <a:solidFill>
              <a:srgbClr val="8A2432"/>
            </a:solidFill>
            <a:prstDash val="solid"/>
          </a:ln>
        </p:spPr>
      </p:sp>
      <p:pic>
        <p:nvPicPr>
          <p:cNvPr id="4" name="Image 0" descr="شعار ITC">    </p:cNvPr>
          <p:cNvPicPr>
            <a:picLocks noChangeAspect="1"/>
          </p:cNvPicPr>
          <p:nvPr/>
        </p:nvPicPr>
        <p:blipFill>
          <a:blip r:embed="rId1"/>
          <a:srcRect l="0" r="0" t="0" b="0"/>
          <a:stretch/>
        </p:blipFill>
        <p:spPr>
          <a:xfrm>
            <a:off x="812800" y="63500"/>
            <a:ext cx="825500" cy="825500"/>
          </a:xfrm>
          <a:prstGeom prst="rect">
            <a:avLst/>
          </a:prstGeom>
        </p:spPr>
      </p:pic>
      <p:pic>
        <p:nvPicPr>
          <p:cNvPr id="5" name="Image 1" descr="شعار رواد مصر الرقمية">    </p:cNvPr>
          <p:cNvPicPr>
            <a:picLocks noChangeAspect="1"/>
          </p:cNvPicPr>
          <p:nvPr/>
        </p:nvPicPr>
        <p:blipFill>
          <a:blip r:embed="rId2"/>
          <a:srcRect l="0" r="0" t="-223" b="-223"/>
          <a:stretch/>
        </p:blipFill>
        <p:spPr>
          <a:xfrm>
            <a:off x="10553700" y="63500"/>
            <a:ext cx="825500" cy="825500"/>
          </a:xfrm>
          <a:prstGeom prst="rect">
            <a:avLst/>
          </a:prstGeom>
        </p:spPr>
      </p:pic>
      <p:sp>
        <p:nvSpPr>
          <p:cNvPr id="6" name="Text 2"/>
          <p:cNvSpPr/>
          <p:nvPr/>
        </p:nvSpPr>
        <p:spPr>
          <a:xfrm>
            <a:off x="3479800" y="292100"/>
            <a:ext cx="5232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33B"/>
                </a:solidFill>
                <a:latin typeface="Cairo" pitchFamily="34" charset="0"/>
                <a:ea typeface="Cairo" pitchFamily="34" charset="-122"/>
                <a:cs typeface="Cairo" pitchFamily="34" charset="-120"/>
              </a:rPr>
              <a:t>Simple Bank Account</a:t>
            </a:r>
            <a:endParaRPr lang="en-US" sz="1800" dirty="0"/>
          </a:p>
        </p:txBody>
      </p:sp>
      <p:sp>
        <p:nvSpPr>
          <p:cNvPr id="7" name="Text 3"/>
          <p:cNvSpPr/>
          <p:nvPr>
            <p:ph type="title"/>
          </p:nvPr>
        </p:nvSpPr>
        <p:spPr>
          <a:xfrm>
            <a:off x="495808" y="1333500"/>
            <a:ext cx="10883392" cy="551180"/>
          </a:xfrm>
          <a:prstGeom prst="rect">
            <a:avLst/>
          </a:prstGeom>
          <a:noFill/>
          <a:ln/>
        </p:spPr>
        <p:txBody>
          <a:bodyPr wrap="square" lIns="0" tIns="0" rIns="0" bIns="0" rtlCol="0" anchor="t">
            <a:normAutofit/>
          </a:bodyPr>
          <a:lstStyle/>
          <a:p>
            <a:pPr algn="r" indent="0" marL="0">
              <a:lnSpc>
                <a:spcPts val="4140"/>
              </a:lnSpc>
              <a:buNone/>
            </a:pPr>
            <a:r>
              <a:rPr lang="en-US" sz="3600" b="1" i="0" dirty="0">
                <a:solidFill>
                  <a:srgbClr val="17233B"/>
                </a:solidFill>
                <a:latin typeface="Cairo" pitchFamily="34" charset="0"/>
                <a:ea typeface="Cairo" pitchFamily="34" charset="-122"/>
                <a:cs typeface="Cairo" pitchFamily="34" charset="-120"/>
              </a:rPr>
              <a:t>هيكل المشروع</a:t>
            </a:r>
            <a:endParaRPr lang="en-US" sz="3600" dirty="0"/>
          </a:p>
        </p:txBody>
      </p:sp>
      <p:sp>
        <p:nvSpPr>
          <p:cNvPr id="8" name="Shape 4"/>
          <p:cNvSpPr/>
          <p:nvPr/>
        </p:nvSpPr>
        <p:spPr>
          <a:xfrm>
            <a:off x="812800" y="2087880"/>
            <a:ext cx="10566400" cy="556260"/>
          </a:xfrm>
          <a:prstGeom prst="roundRect">
            <a:avLst>
              <a:gd name="adj" fmla="val 18265"/>
            </a:avLst>
          </a:prstGeom>
          <a:solidFill>
            <a:srgbClr val="17233B"/>
          </a:solidFill>
          <a:ln/>
        </p:spPr>
      </p:sp>
      <p:sp>
        <p:nvSpPr>
          <p:cNvPr id="9" name="Text 5"/>
          <p:cNvSpPr/>
          <p:nvPr/>
        </p:nvSpPr>
        <p:spPr>
          <a:xfrm>
            <a:off x="1041400" y="2223770"/>
            <a:ext cx="1320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D1C7"/>
                </a:solidFill>
                <a:latin typeface="Cairo" pitchFamily="34" charset="0"/>
                <a:ea typeface="Cairo" pitchFamily="34" charset="-122"/>
                <a:cs typeface="Cairo" pitchFamily="34" charset="-120"/>
              </a:rPr>
              <a:t>العضو 4</a:t>
            </a:r>
            <a:endParaRPr lang="en-US" sz="1600" dirty="0"/>
          </a:p>
        </p:txBody>
      </p:sp>
      <p:sp>
        <p:nvSpPr>
          <p:cNvPr id="10" name="Text 6"/>
          <p:cNvSpPr/>
          <p:nvPr/>
        </p:nvSpPr>
        <p:spPr>
          <a:xfrm>
            <a:off x="2330196" y="2214880"/>
            <a:ext cx="6331204" cy="32766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F6F4EF"/>
                </a:solidFill>
                <a:latin typeface="Cairo" pitchFamily="34" charset="0"/>
                <a:ea typeface="Cairo" pitchFamily="34" charset="-122"/>
                <a:cs typeface="Cairo" pitchFamily="34" charset="-120"/>
              </a:rPr>
              <a:t>نقطة البداية وربط كل الأجزاء</a:t>
            </a:r>
            <a:endParaRPr lang="en-US" sz="1700" dirty="0"/>
          </a:p>
        </p:txBody>
      </p:sp>
      <p:sp>
        <p:nvSpPr>
          <p:cNvPr id="11" name="Text 7"/>
          <p:cNvSpPr/>
          <p:nvPr/>
        </p:nvSpPr>
        <p:spPr>
          <a:xfrm>
            <a:off x="8864600" y="2214880"/>
            <a:ext cx="235458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7FD1C7"/>
                </a:solidFill>
                <a:latin typeface="Courier New" pitchFamily="49" charset="0"/>
                <a:ea typeface="Courier New" pitchFamily="49" charset="-122"/>
                <a:cs typeface="Courier New" pitchFamily="49" charset="-120"/>
              </a:rPr>
              <a:t>Program.cs</a:t>
            </a:r>
            <a:endParaRPr lang="en-US" sz="1700" dirty="0"/>
          </a:p>
        </p:txBody>
      </p:sp>
      <p:sp>
        <p:nvSpPr>
          <p:cNvPr id="12" name="Shape 8"/>
          <p:cNvSpPr/>
          <p:nvPr/>
        </p:nvSpPr>
        <p:spPr>
          <a:xfrm>
            <a:off x="815975" y="2774316"/>
            <a:ext cx="10560050" cy="560070"/>
          </a:xfrm>
          <a:prstGeom prst="roundRect">
            <a:avLst>
              <a:gd name="adj" fmla="val 17574"/>
            </a:avLst>
          </a:prstGeom>
          <a:solidFill>
            <a:srgbClr val="FFFFFF"/>
          </a:solidFill>
          <a:ln w="6350">
            <a:solidFill>
              <a:srgbClr val="E1DDD2"/>
            </a:solidFill>
            <a:prstDash val="solid"/>
          </a:ln>
        </p:spPr>
      </p:sp>
      <p:sp>
        <p:nvSpPr>
          <p:cNvPr id="13" name="Text 9"/>
          <p:cNvSpPr/>
          <p:nvPr/>
        </p:nvSpPr>
        <p:spPr>
          <a:xfrm>
            <a:off x="1046480" y="2912111"/>
            <a:ext cx="1320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A2432"/>
                </a:solidFill>
                <a:latin typeface="Cairo" pitchFamily="34" charset="0"/>
                <a:ea typeface="Cairo" pitchFamily="34" charset="-122"/>
                <a:cs typeface="Cairo" pitchFamily="34" charset="-120"/>
              </a:rPr>
              <a:t>العضو 3</a:t>
            </a:r>
            <a:endParaRPr lang="en-US" sz="1600" dirty="0"/>
          </a:p>
        </p:txBody>
      </p:sp>
      <p:sp>
        <p:nvSpPr>
          <p:cNvPr id="14" name="Text 10"/>
          <p:cNvSpPr/>
          <p:nvPr/>
        </p:nvSpPr>
        <p:spPr>
          <a:xfrm>
            <a:off x="2335581" y="2903220"/>
            <a:ext cx="6320739" cy="32766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17233B"/>
                </a:solidFill>
                <a:latin typeface="Cairo" pitchFamily="34" charset="0"/>
                <a:ea typeface="Cairo" pitchFamily="34" charset="-122"/>
                <a:cs typeface="Cairo" pitchFamily="34" charset="-120"/>
              </a:rPr>
              <a:t>القائمة والإدخال وعرض الرسائل</a:t>
            </a:r>
            <a:endParaRPr lang="en-US" sz="1700" dirty="0"/>
          </a:p>
        </p:txBody>
      </p:sp>
      <p:sp>
        <p:nvSpPr>
          <p:cNvPr id="15" name="Text 11"/>
          <p:cNvSpPr/>
          <p:nvPr/>
        </p:nvSpPr>
        <p:spPr>
          <a:xfrm>
            <a:off x="8859520" y="2903220"/>
            <a:ext cx="235458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8A2432"/>
                </a:solidFill>
                <a:latin typeface="Courier New" pitchFamily="49" charset="0"/>
                <a:ea typeface="Courier New" pitchFamily="49" charset="-122"/>
                <a:cs typeface="Courier New" pitchFamily="49" charset="-120"/>
              </a:rPr>
              <a:t>UI/</a:t>
            </a:r>
            <a:endParaRPr lang="en-US" sz="1700" dirty="0"/>
          </a:p>
        </p:txBody>
      </p:sp>
      <p:sp>
        <p:nvSpPr>
          <p:cNvPr id="16" name="Shape 12"/>
          <p:cNvSpPr/>
          <p:nvPr/>
        </p:nvSpPr>
        <p:spPr>
          <a:xfrm>
            <a:off x="815975" y="3467736"/>
            <a:ext cx="10560050" cy="560070"/>
          </a:xfrm>
          <a:prstGeom prst="roundRect">
            <a:avLst>
              <a:gd name="adj" fmla="val 17574"/>
            </a:avLst>
          </a:prstGeom>
          <a:solidFill>
            <a:srgbClr val="FFFFFF"/>
          </a:solidFill>
          <a:ln w="6350">
            <a:solidFill>
              <a:srgbClr val="E1DDD2"/>
            </a:solidFill>
            <a:prstDash val="solid"/>
          </a:ln>
        </p:spPr>
      </p:sp>
      <p:sp>
        <p:nvSpPr>
          <p:cNvPr id="17" name="Text 13"/>
          <p:cNvSpPr/>
          <p:nvPr/>
        </p:nvSpPr>
        <p:spPr>
          <a:xfrm>
            <a:off x="1046480" y="3605530"/>
            <a:ext cx="1320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A2432"/>
                </a:solidFill>
                <a:latin typeface="Cairo" pitchFamily="34" charset="0"/>
                <a:ea typeface="Cairo" pitchFamily="34" charset="-122"/>
                <a:cs typeface="Cairo" pitchFamily="34" charset="-120"/>
              </a:rPr>
              <a:t>العضو 2</a:t>
            </a:r>
            <a:endParaRPr lang="en-US" sz="1600" dirty="0"/>
          </a:p>
        </p:txBody>
      </p:sp>
      <p:sp>
        <p:nvSpPr>
          <p:cNvPr id="18" name="Text 14"/>
          <p:cNvSpPr/>
          <p:nvPr/>
        </p:nvSpPr>
        <p:spPr>
          <a:xfrm>
            <a:off x="2335581" y="3596641"/>
            <a:ext cx="6320739" cy="32766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17233B"/>
                </a:solidFill>
                <a:latin typeface="Cairo" pitchFamily="34" charset="0"/>
                <a:ea typeface="Cairo" pitchFamily="34" charset="-122"/>
                <a:cs typeface="Cairo" pitchFamily="34" charset="-120"/>
              </a:rPr>
              <a:t>قواعد الإيداع والسحب</a:t>
            </a:r>
            <a:endParaRPr lang="en-US" sz="1700" dirty="0"/>
          </a:p>
        </p:txBody>
      </p:sp>
      <p:sp>
        <p:nvSpPr>
          <p:cNvPr id="19" name="Text 15"/>
          <p:cNvSpPr/>
          <p:nvPr/>
        </p:nvSpPr>
        <p:spPr>
          <a:xfrm>
            <a:off x="8859520" y="3596641"/>
            <a:ext cx="235458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8A2432"/>
                </a:solidFill>
                <a:latin typeface="Courier New" pitchFamily="49" charset="0"/>
                <a:ea typeface="Courier New" pitchFamily="49" charset="-122"/>
                <a:cs typeface="Courier New" pitchFamily="49" charset="-120"/>
              </a:rPr>
              <a:t>Transactions/</a:t>
            </a:r>
            <a:endParaRPr lang="en-US" sz="1700" dirty="0"/>
          </a:p>
        </p:txBody>
      </p:sp>
      <p:sp>
        <p:nvSpPr>
          <p:cNvPr id="20" name="Shape 16"/>
          <p:cNvSpPr/>
          <p:nvPr/>
        </p:nvSpPr>
        <p:spPr>
          <a:xfrm>
            <a:off x="815975" y="4161155"/>
            <a:ext cx="10560050" cy="560070"/>
          </a:xfrm>
          <a:prstGeom prst="roundRect">
            <a:avLst>
              <a:gd name="adj" fmla="val 17574"/>
            </a:avLst>
          </a:prstGeom>
          <a:solidFill>
            <a:srgbClr val="FFFFFF"/>
          </a:solidFill>
          <a:ln w="6350">
            <a:solidFill>
              <a:srgbClr val="E1DDD2"/>
            </a:solidFill>
            <a:prstDash val="solid"/>
          </a:ln>
        </p:spPr>
      </p:sp>
      <p:sp>
        <p:nvSpPr>
          <p:cNvPr id="21" name="Text 17"/>
          <p:cNvSpPr/>
          <p:nvPr/>
        </p:nvSpPr>
        <p:spPr>
          <a:xfrm>
            <a:off x="1046480" y="4298950"/>
            <a:ext cx="13208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A2432"/>
                </a:solidFill>
                <a:latin typeface="Cairo" pitchFamily="34" charset="0"/>
                <a:ea typeface="Cairo" pitchFamily="34" charset="-122"/>
                <a:cs typeface="Cairo" pitchFamily="34" charset="-120"/>
              </a:rPr>
              <a:t>العضو 1</a:t>
            </a:r>
            <a:endParaRPr lang="en-US" sz="1600" dirty="0"/>
          </a:p>
        </p:txBody>
      </p:sp>
      <p:sp>
        <p:nvSpPr>
          <p:cNvPr id="22" name="Text 18"/>
          <p:cNvSpPr/>
          <p:nvPr/>
        </p:nvSpPr>
        <p:spPr>
          <a:xfrm>
            <a:off x="2335581" y="4290061"/>
            <a:ext cx="6320739" cy="327660"/>
          </a:xfrm>
          <a:prstGeom prst="rect">
            <a:avLst/>
          </a:prstGeom>
          <a:noFill/>
          <a:ln/>
        </p:spPr>
        <p:txBody>
          <a:bodyPr wrap="square" lIns="0" tIns="0" rIns="0" bIns="0" rtlCol="0" anchor="t">
            <a:normAutofit/>
          </a:bodyPr>
          <a:lstStyle/>
          <a:p>
            <a:pPr algn="r" indent="0" marL="0">
              <a:lnSpc>
                <a:spcPts val="2380"/>
              </a:lnSpc>
              <a:buNone/>
            </a:pPr>
            <a:r>
              <a:rPr lang="en-US" sz="1700" dirty="0">
                <a:solidFill>
                  <a:srgbClr val="17233B"/>
                </a:solidFill>
                <a:latin typeface="Cairo" pitchFamily="34" charset="0"/>
                <a:ea typeface="Cairo" pitchFamily="34" charset="-122"/>
                <a:cs typeface="Cairo" pitchFamily="34" charset="-120"/>
              </a:rPr>
              <a:t>بيانات الحساب والعميل</a:t>
            </a:r>
            <a:endParaRPr lang="en-US" sz="1700" dirty="0"/>
          </a:p>
        </p:txBody>
      </p:sp>
      <p:sp>
        <p:nvSpPr>
          <p:cNvPr id="23" name="Text 19"/>
          <p:cNvSpPr/>
          <p:nvPr/>
        </p:nvSpPr>
        <p:spPr>
          <a:xfrm>
            <a:off x="8859520" y="4290061"/>
            <a:ext cx="235458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8A2432"/>
                </a:solidFill>
                <a:latin typeface="Courier New" pitchFamily="49" charset="0"/>
                <a:ea typeface="Courier New" pitchFamily="49" charset="-122"/>
                <a:cs typeface="Courier New" pitchFamily="49" charset="-120"/>
              </a:rPr>
              <a:t>Models/</a:t>
            </a:r>
            <a:endParaRPr lang="en-US" sz="1700" dirty="0"/>
          </a:p>
        </p:txBody>
      </p:sp>
      <p:sp>
        <p:nvSpPr>
          <p:cNvPr id="24" name="Text 20"/>
          <p:cNvSpPr/>
          <p:nvPr/>
        </p:nvSpPr>
        <p:spPr>
          <a:xfrm>
            <a:off x="495808" y="4953000"/>
            <a:ext cx="10883392"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4A5568"/>
                </a:solidFill>
                <a:latin typeface="Cairo" pitchFamily="34" charset="0"/>
                <a:ea typeface="Cairo" pitchFamily="34" charset="-122"/>
                <a:cs typeface="Cairo" pitchFamily="34" charset="-120"/>
              </a:rPr>
              <a:t>الـ UI بيطلب من الـ Service، والـ Service بيعدّل الـ Model، والـ UI عمره ما بيعدّل الرصيد مباشرة.</a:t>
            </a:r>
            <a:endParaRPr lang="en-US" sz="1600" dirty="0"/>
          </a:p>
        </p:txBody>
      </p:sp>
      <p:sp>
        <p:nvSpPr>
          <p:cNvPr id="25" name="Text 21"/>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169"/>
                </a:solidFill>
                <a:latin typeface="Cairo" pitchFamily="34" charset="0"/>
                <a:ea typeface="Cairo" pitchFamily="34" charset="-122"/>
                <a:cs typeface="Cairo" pitchFamily="34" charset="-120"/>
              </a:rPr>
              <a:t>Team 1</a:t>
            </a:r>
            <a:endParaRPr lang="en-US" sz="1200" dirty="0"/>
          </a:p>
        </p:txBody>
      </p:sp>
      <p:sp>
        <p:nvSpPr>
          <p:cNvPr id="26" name="Text 2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169"/>
                </a:solidFill>
                <a:latin typeface="Cairo" pitchFamily="34" charset="0"/>
                <a:ea typeface="Cairo" pitchFamily="34" charset="-122"/>
                <a:cs typeface="Cairo"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8DE"/>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FFFFFF"/>
          </a:solidFill>
          <a:ln/>
        </p:spPr>
      </p:sp>
      <p:sp>
        <p:nvSpPr>
          <p:cNvPr id="3" name="Shape 1"/>
          <p:cNvSpPr/>
          <p:nvPr/>
        </p:nvSpPr>
        <p:spPr>
          <a:xfrm>
            <a:off x="0" y="939800"/>
            <a:ext cx="12192000" cy="0"/>
          </a:xfrm>
          <a:prstGeom prst="line">
            <a:avLst/>
          </a:prstGeom>
          <a:noFill/>
          <a:ln w="25400">
            <a:solidFill>
              <a:srgbClr val="8A2432"/>
            </a:solidFill>
            <a:prstDash val="solid"/>
          </a:ln>
        </p:spPr>
      </p:sp>
      <p:pic>
        <p:nvPicPr>
          <p:cNvPr id="4" name="Image 0" descr="شعار ITC">    </p:cNvPr>
          <p:cNvPicPr>
            <a:picLocks noChangeAspect="1"/>
          </p:cNvPicPr>
          <p:nvPr/>
        </p:nvPicPr>
        <p:blipFill>
          <a:blip r:embed="rId1"/>
          <a:srcRect l="0" r="0" t="0" b="0"/>
          <a:stretch/>
        </p:blipFill>
        <p:spPr>
          <a:xfrm>
            <a:off x="812800" y="63500"/>
            <a:ext cx="825500" cy="825500"/>
          </a:xfrm>
          <a:prstGeom prst="rect">
            <a:avLst/>
          </a:prstGeom>
        </p:spPr>
      </p:pic>
      <p:pic>
        <p:nvPicPr>
          <p:cNvPr id="5" name="Image 1" descr="شعار رواد مصر الرقمية">    </p:cNvPr>
          <p:cNvPicPr>
            <a:picLocks noChangeAspect="1"/>
          </p:cNvPicPr>
          <p:nvPr/>
        </p:nvPicPr>
        <p:blipFill>
          <a:blip r:embed="rId2"/>
          <a:srcRect l="0" r="0" t="-223" b="-223"/>
          <a:stretch/>
        </p:blipFill>
        <p:spPr>
          <a:xfrm>
            <a:off x="10553700" y="63500"/>
            <a:ext cx="825500" cy="825500"/>
          </a:xfrm>
          <a:prstGeom prst="rect">
            <a:avLst/>
          </a:prstGeom>
        </p:spPr>
      </p:pic>
      <p:sp>
        <p:nvSpPr>
          <p:cNvPr id="6" name="Text 2"/>
          <p:cNvSpPr/>
          <p:nvPr/>
        </p:nvSpPr>
        <p:spPr>
          <a:xfrm>
            <a:off x="3479800" y="292100"/>
            <a:ext cx="5232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33B"/>
                </a:solidFill>
                <a:latin typeface="Cairo" pitchFamily="34" charset="0"/>
                <a:ea typeface="Cairo" pitchFamily="34" charset="-122"/>
                <a:cs typeface="Cairo" pitchFamily="34" charset="-120"/>
              </a:rPr>
              <a:t>Simple Bank Account</a:t>
            </a:r>
            <a:endParaRPr lang="en-US" sz="1800" dirty="0"/>
          </a:p>
        </p:txBody>
      </p:sp>
      <p:sp>
        <p:nvSpPr>
          <p:cNvPr id="7" name="Text 3"/>
          <p:cNvSpPr/>
          <p:nvPr/>
        </p:nvSpPr>
        <p:spPr>
          <a:xfrm>
            <a:off x="495808" y="1333500"/>
            <a:ext cx="10883392"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8A2432"/>
                </a:solidFill>
                <a:latin typeface="Cairo" pitchFamily="34" charset="0"/>
                <a:ea typeface="Cairo" pitchFamily="34" charset="-122"/>
                <a:cs typeface="Cairo" pitchFamily="34" charset="-120"/>
              </a:rPr>
              <a:t>العضو 1 · الـ Models والأساس الكائني</a:t>
            </a:r>
            <a:endParaRPr lang="en-US" sz="1600" dirty="0"/>
          </a:p>
        </p:txBody>
      </p:sp>
      <p:sp>
        <p:nvSpPr>
          <p:cNvPr id="8" name="Text 4"/>
          <p:cNvSpPr/>
          <p:nvPr>
            <p:ph type="title"/>
          </p:nvPr>
        </p:nvSpPr>
        <p:spPr>
          <a:xfrm>
            <a:off x="495808" y="1656082"/>
            <a:ext cx="10883392" cy="492760"/>
          </a:xfrm>
          <a:prstGeom prst="rect">
            <a:avLst/>
          </a:prstGeom>
          <a:noFill/>
          <a:ln/>
        </p:spPr>
        <p:txBody>
          <a:bodyPr wrap="square" lIns="0" tIns="0" rIns="0" bIns="0" rtlCol="0" anchor="t">
            <a:normAutofit/>
          </a:bodyPr>
          <a:lstStyle/>
          <a:p>
            <a:pPr algn="r" indent="0" marL="0">
              <a:lnSpc>
                <a:spcPts val="3680"/>
              </a:lnSpc>
              <a:buNone/>
            </a:pPr>
            <a:r>
              <a:rPr lang="en-US" sz="3200" b="1" i="0" dirty="0">
                <a:solidFill>
                  <a:srgbClr val="17233B"/>
                </a:solidFill>
                <a:latin typeface="Cairo" pitchFamily="34" charset="0"/>
                <a:ea typeface="Cairo" pitchFamily="34" charset="-122"/>
                <a:cs typeface="Cairo" pitchFamily="34" charset="-120"/>
              </a:rPr>
              <a:t>Abdelrahman mohamed Safwat</a:t>
            </a:r>
            <a:endParaRPr lang="en-US" sz="3200" dirty="0"/>
          </a:p>
        </p:txBody>
      </p:sp>
      <p:sp>
        <p:nvSpPr>
          <p:cNvPr id="9" name="Text 5"/>
          <p:cNvSpPr/>
          <p:nvPr/>
        </p:nvSpPr>
        <p:spPr>
          <a:xfrm>
            <a:off x="495808" y="2161539"/>
            <a:ext cx="10883392"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A6169"/>
                </a:solidFill>
                <a:latin typeface="Courier New" pitchFamily="49" charset="0"/>
                <a:ea typeface="Courier New" pitchFamily="49" charset="-122"/>
                <a:cs typeface="Courier New" pitchFamily="49" charset="-120"/>
              </a:rPr>
              <a:t>Models/BankAccount.cs · Models/Customer.cs</a:t>
            </a:r>
            <a:endParaRPr lang="en-US" sz="1400" dirty="0"/>
          </a:p>
        </p:txBody>
      </p:sp>
      <p:sp>
        <p:nvSpPr>
          <p:cNvPr id="10" name="Shape 6"/>
          <p:cNvSpPr/>
          <p:nvPr/>
        </p:nvSpPr>
        <p:spPr>
          <a:xfrm>
            <a:off x="812800" y="2639061"/>
            <a:ext cx="5181600" cy="2420620"/>
          </a:xfrm>
          <a:prstGeom prst="roundRect">
            <a:avLst>
              <a:gd name="adj" fmla="val 4197"/>
            </a:avLst>
          </a:prstGeom>
          <a:solidFill>
            <a:srgbClr val="17233B"/>
          </a:solidFill>
          <a:ln/>
        </p:spPr>
      </p:sp>
      <p:sp>
        <p:nvSpPr>
          <p:cNvPr id="11" name="Text 7"/>
          <p:cNvSpPr/>
          <p:nvPr/>
        </p:nvSpPr>
        <p:spPr>
          <a:xfrm>
            <a:off x="926592" y="2867661"/>
            <a:ext cx="4813808" cy="299720"/>
          </a:xfrm>
          <a:prstGeom prst="rect">
            <a:avLst/>
          </a:prstGeom>
          <a:noFill/>
          <a:ln/>
        </p:spPr>
        <p:txBody>
          <a:bodyPr wrap="square" lIns="0" tIns="0" rIns="0" bIns="0" rtlCol="0" anchor="t">
            <a:normAutofit/>
          </a:bodyPr>
          <a:lstStyle/>
          <a:p>
            <a:pPr algn="r" indent="0" marL="0">
              <a:lnSpc>
                <a:spcPts val="2160"/>
              </a:lnSpc>
              <a:buNone/>
            </a:pPr>
            <a:r>
              <a:rPr lang="en-US" sz="1800" b="1" dirty="0">
                <a:solidFill>
                  <a:srgbClr val="7FD1C7"/>
                </a:solidFill>
                <a:latin typeface="Cairo" pitchFamily="34" charset="0"/>
                <a:ea typeface="Cairo" pitchFamily="34" charset="-122"/>
                <a:cs typeface="Cairo" pitchFamily="34" charset="-120"/>
              </a:rPr>
              <a:t>من الكود</a:t>
            </a:r>
            <a:endParaRPr lang="en-US" sz="1800" dirty="0"/>
          </a:p>
        </p:txBody>
      </p:sp>
      <p:sp>
        <p:nvSpPr>
          <p:cNvPr id="12" name="Text 8"/>
          <p:cNvSpPr/>
          <p:nvPr/>
        </p:nvSpPr>
        <p:spPr>
          <a:xfrm>
            <a:off x="1066800" y="3230882"/>
            <a:ext cx="4813808" cy="1625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public decimal Balance</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    { get; private set; }</a:t>
            </a:r>
            <a:endParaRPr lang="en-US" sz="1200" dirty="0"/>
          </a:p>
          <a:p>
            <a:pPr algn="l" indent="0" marL="0">
              <a:lnSpc>
                <a:spcPts val="1800"/>
              </a:lnSpc>
              <a:buNone/>
            </a:pP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if (initialBalance &lt; 0)</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    throw new ArgumentException(</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        "Initial balance cannot</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        be negative.");</a:t>
            </a:r>
            <a:endParaRPr lang="en-US" sz="1200" dirty="0"/>
          </a:p>
        </p:txBody>
      </p:sp>
      <p:sp>
        <p:nvSpPr>
          <p:cNvPr id="13" name="Shape 9"/>
          <p:cNvSpPr/>
          <p:nvPr/>
        </p:nvSpPr>
        <p:spPr>
          <a:xfrm>
            <a:off x="6197600" y="2639061"/>
            <a:ext cx="5181600" cy="2481580"/>
          </a:xfrm>
          <a:prstGeom prst="roundRect">
            <a:avLst>
              <a:gd name="adj" fmla="val 4094"/>
            </a:avLst>
          </a:prstGeom>
          <a:solidFill>
            <a:srgbClr val="FFFFFF"/>
          </a:solidFill>
          <a:ln/>
        </p:spPr>
      </p:sp>
      <p:sp>
        <p:nvSpPr>
          <p:cNvPr id="14" name="Text 10"/>
          <p:cNvSpPr/>
          <p:nvPr/>
        </p:nvSpPr>
        <p:spPr>
          <a:xfrm>
            <a:off x="6311392" y="2867661"/>
            <a:ext cx="4813808" cy="360680"/>
          </a:xfrm>
          <a:prstGeom prst="rect">
            <a:avLst/>
          </a:prstGeom>
          <a:noFill/>
          <a:ln/>
        </p:spPr>
        <p:txBody>
          <a:bodyPr wrap="square" lIns="0" tIns="0" rIns="0" bIns="0" rtlCol="0" anchor="t">
            <a:normAutofit/>
          </a:bodyPr>
          <a:lstStyle/>
          <a:p>
            <a:pPr algn="r" indent="0" marL="0">
              <a:lnSpc>
                <a:spcPts val="2640"/>
              </a:lnSpc>
              <a:buNone/>
            </a:pPr>
            <a:r>
              <a:rPr lang="en-US" sz="2200" b="1" dirty="0">
                <a:solidFill>
                  <a:srgbClr val="8A2432"/>
                </a:solidFill>
                <a:latin typeface="Cairo" pitchFamily="34" charset="0"/>
                <a:ea typeface="Cairo" pitchFamily="34" charset="-122"/>
                <a:cs typeface="Cairo" pitchFamily="34" charset="-120"/>
              </a:rPr>
              <a:t>عمل إيه؟</a:t>
            </a:r>
            <a:endParaRPr lang="en-US" sz="2200" dirty="0"/>
          </a:p>
        </p:txBody>
      </p:sp>
      <p:sp>
        <p:nvSpPr>
          <p:cNvPr id="15" name="Text 11"/>
          <p:cNvSpPr/>
          <p:nvPr/>
        </p:nvSpPr>
        <p:spPr>
          <a:xfrm>
            <a:off x="6311392" y="3291839"/>
            <a:ext cx="4813808" cy="5588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أنشأ كلاسَي BankAccount و Customer بالـ Properties والـ Constructors</a:t>
            </a:r>
            <a:endParaRPr lang="en-US" sz="1500" dirty="0"/>
          </a:p>
        </p:txBody>
      </p:sp>
      <p:sp>
        <p:nvSpPr>
          <p:cNvPr id="16" name="Text 12"/>
          <p:cNvSpPr/>
          <p:nvPr/>
        </p:nvSpPr>
        <p:spPr>
          <a:xfrm>
            <a:off x="6311392" y="3914139"/>
            <a:ext cx="4813808"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طبّق Encapsulation: الرصيد بـ private set</a:t>
            </a:r>
            <a:endParaRPr lang="en-US" sz="1500" dirty="0"/>
          </a:p>
        </p:txBody>
      </p:sp>
      <p:sp>
        <p:nvSpPr>
          <p:cNvPr id="17" name="Text 13"/>
          <p:cNvSpPr/>
          <p:nvPr/>
        </p:nvSpPr>
        <p:spPr>
          <a:xfrm>
            <a:off x="6311392" y="4269739"/>
            <a:ext cx="4813808"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تحقق من صحة الاسم والإيميل ورقم الحساب</a:t>
            </a:r>
            <a:endParaRPr lang="en-US" sz="1500" dirty="0"/>
          </a:p>
        </p:txBody>
      </p:sp>
      <p:sp>
        <p:nvSpPr>
          <p:cNvPr id="18" name="Text 14"/>
          <p:cNvSpPr/>
          <p:nvPr/>
        </p:nvSpPr>
        <p:spPr>
          <a:xfrm>
            <a:off x="6311392" y="4625339"/>
            <a:ext cx="4813808"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منع إنشاء حساب برصيد ابتدائي سالب</a:t>
            </a:r>
            <a:endParaRPr lang="en-US" sz="1500" dirty="0"/>
          </a:p>
        </p:txBody>
      </p:sp>
      <p:sp>
        <p:nvSpPr>
          <p:cNvPr id="19" name="Text 15"/>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169"/>
                </a:solidFill>
                <a:latin typeface="Cairo" pitchFamily="34" charset="0"/>
                <a:ea typeface="Cairo" pitchFamily="34" charset="-122"/>
                <a:cs typeface="Cairo" pitchFamily="34" charset="-120"/>
              </a:rPr>
              <a:t>Team 1</a:t>
            </a:r>
            <a:endParaRPr lang="en-US" sz="1200" dirty="0"/>
          </a:p>
        </p:txBody>
      </p:sp>
      <p:sp>
        <p:nvSpPr>
          <p:cNvPr id="20"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169"/>
                </a:solidFill>
                <a:latin typeface="Cairo" pitchFamily="34" charset="0"/>
                <a:ea typeface="Cairo" pitchFamily="34" charset="-122"/>
                <a:cs typeface="Cairo"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FFFFFF"/>
          </a:solidFill>
          <a:ln/>
        </p:spPr>
      </p:sp>
      <p:sp>
        <p:nvSpPr>
          <p:cNvPr id="3" name="Shape 1"/>
          <p:cNvSpPr/>
          <p:nvPr/>
        </p:nvSpPr>
        <p:spPr>
          <a:xfrm>
            <a:off x="0" y="939800"/>
            <a:ext cx="12192000" cy="0"/>
          </a:xfrm>
          <a:prstGeom prst="line">
            <a:avLst/>
          </a:prstGeom>
          <a:noFill/>
          <a:ln w="25400">
            <a:solidFill>
              <a:srgbClr val="8A2432"/>
            </a:solidFill>
            <a:prstDash val="solid"/>
          </a:ln>
        </p:spPr>
      </p:sp>
      <p:pic>
        <p:nvPicPr>
          <p:cNvPr id="4" name="Image 0" descr="شعار ITC">    </p:cNvPr>
          <p:cNvPicPr>
            <a:picLocks noChangeAspect="1"/>
          </p:cNvPicPr>
          <p:nvPr/>
        </p:nvPicPr>
        <p:blipFill>
          <a:blip r:embed="rId1"/>
          <a:srcRect l="0" r="0" t="0" b="0"/>
          <a:stretch/>
        </p:blipFill>
        <p:spPr>
          <a:xfrm>
            <a:off x="812800" y="63500"/>
            <a:ext cx="825500" cy="825500"/>
          </a:xfrm>
          <a:prstGeom prst="rect">
            <a:avLst/>
          </a:prstGeom>
        </p:spPr>
      </p:pic>
      <p:pic>
        <p:nvPicPr>
          <p:cNvPr id="5" name="Image 1" descr="شعار رواد مصر الرقمية">    </p:cNvPr>
          <p:cNvPicPr>
            <a:picLocks noChangeAspect="1"/>
          </p:cNvPicPr>
          <p:nvPr/>
        </p:nvPicPr>
        <p:blipFill>
          <a:blip r:embed="rId2"/>
          <a:srcRect l="0" r="0" t="-223" b="-223"/>
          <a:stretch/>
        </p:blipFill>
        <p:spPr>
          <a:xfrm>
            <a:off x="10553700" y="63500"/>
            <a:ext cx="825500" cy="825500"/>
          </a:xfrm>
          <a:prstGeom prst="rect">
            <a:avLst/>
          </a:prstGeom>
        </p:spPr>
      </p:pic>
      <p:sp>
        <p:nvSpPr>
          <p:cNvPr id="6" name="Text 2"/>
          <p:cNvSpPr/>
          <p:nvPr/>
        </p:nvSpPr>
        <p:spPr>
          <a:xfrm>
            <a:off x="3479800" y="292100"/>
            <a:ext cx="5232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33B"/>
                </a:solidFill>
                <a:latin typeface="Cairo" pitchFamily="34" charset="0"/>
                <a:ea typeface="Cairo" pitchFamily="34" charset="-122"/>
                <a:cs typeface="Cairo" pitchFamily="34" charset="-120"/>
              </a:rPr>
              <a:t>Simple Bank Account</a:t>
            </a:r>
            <a:endParaRPr lang="en-US" sz="1800" dirty="0"/>
          </a:p>
        </p:txBody>
      </p:sp>
      <p:sp>
        <p:nvSpPr>
          <p:cNvPr id="7" name="Text 3"/>
          <p:cNvSpPr/>
          <p:nvPr/>
        </p:nvSpPr>
        <p:spPr>
          <a:xfrm>
            <a:off x="495808" y="1333500"/>
            <a:ext cx="10883392"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8A2432"/>
                </a:solidFill>
                <a:latin typeface="Cairo" pitchFamily="34" charset="0"/>
                <a:ea typeface="Cairo" pitchFamily="34" charset="-122"/>
                <a:cs typeface="Cairo" pitchFamily="34" charset="-120"/>
              </a:rPr>
              <a:t>العضو 2 · العمليات وقواعد العمل</a:t>
            </a:r>
            <a:endParaRPr lang="en-US" sz="1600" dirty="0"/>
          </a:p>
        </p:txBody>
      </p:sp>
      <p:sp>
        <p:nvSpPr>
          <p:cNvPr id="8" name="Text 4"/>
          <p:cNvSpPr/>
          <p:nvPr>
            <p:ph type="title"/>
          </p:nvPr>
        </p:nvSpPr>
        <p:spPr>
          <a:xfrm>
            <a:off x="495808" y="1656082"/>
            <a:ext cx="10883392" cy="492760"/>
          </a:xfrm>
          <a:prstGeom prst="rect">
            <a:avLst/>
          </a:prstGeom>
          <a:noFill/>
          <a:ln/>
        </p:spPr>
        <p:txBody>
          <a:bodyPr wrap="square" lIns="0" tIns="0" rIns="0" bIns="0" rtlCol="0" anchor="t">
            <a:normAutofit/>
          </a:bodyPr>
          <a:lstStyle/>
          <a:p>
            <a:pPr algn="r" indent="0" marL="0">
              <a:lnSpc>
                <a:spcPts val="3680"/>
              </a:lnSpc>
              <a:buNone/>
            </a:pPr>
            <a:r>
              <a:rPr lang="en-US" sz="3200" b="1" i="0" dirty="0">
                <a:solidFill>
                  <a:srgbClr val="17233B"/>
                </a:solidFill>
                <a:latin typeface="Cairo" pitchFamily="34" charset="0"/>
                <a:ea typeface="Cairo" pitchFamily="34" charset="-122"/>
                <a:cs typeface="Cairo" pitchFamily="34" charset="-120"/>
              </a:rPr>
              <a:t>Abdallah Saeed Abdallah Atallah</a:t>
            </a:r>
            <a:endParaRPr lang="en-US" sz="3200" dirty="0"/>
          </a:p>
        </p:txBody>
      </p:sp>
      <p:sp>
        <p:nvSpPr>
          <p:cNvPr id="9" name="Text 5"/>
          <p:cNvSpPr/>
          <p:nvPr/>
        </p:nvSpPr>
        <p:spPr>
          <a:xfrm>
            <a:off x="495808" y="2161539"/>
            <a:ext cx="10883392"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A6169"/>
                </a:solidFill>
                <a:latin typeface="Courier New" pitchFamily="49" charset="0"/>
                <a:ea typeface="Courier New" pitchFamily="49" charset="-122"/>
                <a:cs typeface="Courier New" pitchFamily="49" charset="-120"/>
              </a:rPr>
              <a:t>Transactions/TransactionService.cs</a:t>
            </a:r>
            <a:endParaRPr lang="en-US" sz="1400" dirty="0"/>
          </a:p>
        </p:txBody>
      </p:sp>
      <p:sp>
        <p:nvSpPr>
          <p:cNvPr id="10" name="Shape 6"/>
          <p:cNvSpPr/>
          <p:nvPr/>
        </p:nvSpPr>
        <p:spPr>
          <a:xfrm>
            <a:off x="812800" y="2639061"/>
            <a:ext cx="5176520" cy="2192020"/>
          </a:xfrm>
          <a:prstGeom prst="roundRect">
            <a:avLst>
              <a:gd name="adj" fmla="val 4635"/>
            </a:avLst>
          </a:prstGeom>
          <a:solidFill>
            <a:srgbClr val="17233B"/>
          </a:solidFill>
          <a:ln/>
        </p:spPr>
      </p:sp>
      <p:sp>
        <p:nvSpPr>
          <p:cNvPr id="11" name="Text 7"/>
          <p:cNvSpPr/>
          <p:nvPr/>
        </p:nvSpPr>
        <p:spPr>
          <a:xfrm>
            <a:off x="926744" y="2867661"/>
            <a:ext cx="4808576" cy="299720"/>
          </a:xfrm>
          <a:prstGeom prst="rect">
            <a:avLst/>
          </a:prstGeom>
          <a:noFill/>
          <a:ln/>
        </p:spPr>
        <p:txBody>
          <a:bodyPr wrap="square" lIns="0" tIns="0" rIns="0" bIns="0" rtlCol="0" anchor="t">
            <a:normAutofit/>
          </a:bodyPr>
          <a:lstStyle/>
          <a:p>
            <a:pPr algn="r" indent="0" marL="0">
              <a:lnSpc>
                <a:spcPts val="2160"/>
              </a:lnSpc>
              <a:buNone/>
            </a:pPr>
            <a:r>
              <a:rPr lang="en-US" sz="1800" b="1" dirty="0">
                <a:solidFill>
                  <a:srgbClr val="7FD1C7"/>
                </a:solidFill>
                <a:latin typeface="Cairo" pitchFamily="34" charset="0"/>
                <a:ea typeface="Cairo" pitchFamily="34" charset="-122"/>
                <a:cs typeface="Cairo" pitchFamily="34" charset="-120"/>
              </a:rPr>
              <a:t>من الكود</a:t>
            </a:r>
            <a:endParaRPr lang="en-US" sz="1800" dirty="0"/>
          </a:p>
        </p:txBody>
      </p:sp>
      <p:sp>
        <p:nvSpPr>
          <p:cNvPr id="12" name="Text 8"/>
          <p:cNvSpPr/>
          <p:nvPr/>
        </p:nvSpPr>
        <p:spPr>
          <a:xfrm>
            <a:off x="1066800" y="3230882"/>
            <a:ext cx="4808576" cy="1397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if (amount &lt;= 0)</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    throw new</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        ArgumentOutOfRangeException(...);</a:t>
            </a:r>
            <a:endParaRPr lang="en-US" sz="1200" dirty="0"/>
          </a:p>
          <a:p>
            <a:pPr algn="l" indent="0" marL="0">
              <a:lnSpc>
                <a:spcPts val="1800"/>
              </a:lnSpc>
              <a:buNone/>
            </a:pP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if (amount &gt; account.Balance)</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    return false;</a:t>
            </a:r>
            <a:endParaRPr lang="en-US" sz="1200" dirty="0"/>
          </a:p>
        </p:txBody>
      </p:sp>
      <p:sp>
        <p:nvSpPr>
          <p:cNvPr id="13" name="Shape 9"/>
          <p:cNvSpPr/>
          <p:nvPr/>
        </p:nvSpPr>
        <p:spPr>
          <a:xfrm>
            <a:off x="6195695" y="2642236"/>
            <a:ext cx="5180330" cy="2218690"/>
          </a:xfrm>
          <a:prstGeom prst="roundRect">
            <a:avLst>
              <a:gd name="adj" fmla="val 4436"/>
            </a:avLst>
          </a:prstGeom>
          <a:solidFill>
            <a:srgbClr val="FFFFFF"/>
          </a:solidFill>
          <a:ln w="6350">
            <a:solidFill>
              <a:srgbClr val="E1DDD2"/>
            </a:solidFill>
            <a:prstDash val="solid"/>
          </a:ln>
        </p:spPr>
      </p:sp>
      <p:sp>
        <p:nvSpPr>
          <p:cNvPr id="14" name="Text 10"/>
          <p:cNvSpPr/>
          <p:nvPr/>
        </p:nvSpPr>
        <p:spPr>
          <a:xfrm>
            <a:off x="6311544" y="2872739"/>
            <a:ext cx="4808576" cy="360680"/>
          </a:xfrm>
          <a:prstGeom prst="rect">
            <a:avLst/>
          </a:prstGeom>
          <a:noFill/>
          <a:ln/>
        </p:spPr>
        <p:txBody>
          <a:bodyPr wrap="square" lIns="0" tIns="0" rIns="0" bIns="0" rtlCol="0" anchor="t">
            <a:normAutofit/>
          </a:bodyPr>
          <a:lstStyle/>
          <a:p>
            <a:pPr algn="r" indent="0" marL="0">
              <a:lnSpc>
                <a:spcPts val="2640"/>
              </a:lnSpc>
              <a:buNone/>
            </a:pPr>
            <a:r>
              <a:rPr lang="en-US" sz="2200" b="1" dirty="0">
                <a:solidFill>
                  <a:srgbClr val="8A2432"/>
                </a:solidFill>
                <a:latin typeface="Cairo" pitchFamily="34" charset="0"/>
                <a:ea typeface="Cairo" pitchFamily="34" charset="-122"/>
                <a:cs typeface="Cairo" pitchFamily="34" charset="-120"/>
              </a:rPr>
              <a:t>عمل إيه؟</a:t>
            </a:r>
            <a:endParaRPr lang="en-US" sz="2200" dirty="0"/>
          </a:p>
        </p:txBody>
      </p:sp>
      <p:sp>
        <p:nvSpPr>
          <p:cNvPr id="15" name="Text 11"/>
          <p:cNvSpPr/>
          <p:nvPr/>
        </p:nvSpPr>
        <p:spPr>
          <a:xfrm>
            <a:off x="6311544" y="3296921"/>
            <a:ext cx="4808576"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أنشأ TransactionService بعمليتي Deposit و Withdraw</a:t>
            </a:r>
            <a:endParaRPr lang="en-US" sz="1500" dirty="0"/>
          </a:p>
        </p:txBody>
      </p:sp>
      <p:sp>
        <p:nvSpPr>
          <p:cNvPr id="16" name="Text 12"/>
          <p:cNvSpPr/>
          <p:nvPr/>
        </p:nvSpPr>
        <p:spPr>
          <a:xfrm>
            <a:off x="6311544" y="3652521"/>
            <a:ext cx="4808576"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تأكد إن المبلغ أكبر من صفر قبل أي عملية</a:t>
            </a:r>
            <a:endParaRPr lang="en-US" sz="1500" dirty="0"/>
          </a:p>
        </p:txBody>
      </p:sp>
      <p:sp>
        <p:nvSpPr>
          <p:cNvPr id="17" name="Text 13"/>
          <p:cNvSpPr/>
          <p:nvPr/>
        </p:nvSpPr>
        <p:spPr>
          <a:xfrm>
            <a:off x="6311544" y="4008121"/>
            <a:ext cx="4808576"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تأكد إن الرصيد كافٍ قبل السحب</a:t>
            </a:r>
            <a:endParaRPr lang="en-US" sz="1500" dirty="0"/>
          </a:p>
        </p:txBody>
      </p:sp>
      <p:sp>
        <p:nvSpPr>
          <p:cNvPr id="18" name="Text 14"/>
          <p:cNvSpPr/>
          <p:nvPr/>
        </p:nvSpPr>
        <p:spPr>
          <a:xfrm>
            <a:off x="6311544" y="4363721"/>
            <a:ext cx="4808576"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تعامل مع الأخطاء بـ Exceptions</a:t>
            </a:r>
            <a:endParaRPr lang="en-US" sz="1500" dirty="0"/>
          </a:p>
        </p:txBody>
      </p:sp>
      <p:sp>
        <p:nvSpPr>
          <p:cNvPr id="19" name="Text 15"/>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169"/>
                </a:solidFill>
                <a:latin typeface="Cairo" pitchFamily="34" charset="0"/>
                <a:ea typeface="Cairo" pitchFamily="34" charset="-122"/>
                <a:cs typeface="Cairo" pitchFamily="34" charset="-120"/>
              </a:rPr>
              <a:t>Team 1</a:t>
            </a:r>
            <a:endParaRPr lang="en-US" sz="1200" dirty="0"/>
          </a:p>
        </p:txBody>
      </p:sp>
      <p:sp>
        <p:nvSpPr>
          <p:cNvPr id="20"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169"/>
                </a:solidFill>
                <a:latin typeface="Cairo" pitchFamily="34" charset="0"/>
                <a:ea typeface="Cairo" pitchFamily="34" charset="-122"/>
                <a:cs typeface="Cairo"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8DE"/>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FFFFFF"/>
          </a:solidFill>
          <a:ln/>
        </p:spPr>
      </p:sp>
      <p:sp>
        <p:nvSpPr>
          <p:cNvPr id="3" name="Shape 1"/>
          <p:cNvSpPr/>
          <p:nvPr/>
        </p:nvSpPr>
        <p:spPr>
          <a:xfrm>
            <a:off x="0" y="939800"/>
            <a:ext cx="12192000" cy="0"/>
          </a:xfrm>
          <a:prstGeom prst="line">
            <a:avLst/>
          </a:prstGeom>
          <a:noFill/>
          <a:ln w="25400">
            <a:solidFill>
              <a:srgbClr val="8A2432"/>
            </a:solidFill>
            <a:prstDash val="solid"/>
          </a:ln>
        </p:spPr>
      </p:sp>
      <p:pic>
        <p:nvPicPr>
          <p:cNvPr id="4" name="Image 0" descr="شعار ITC">    </p:cNvPr>
          <p:cNvPicPr>
            <a:picLocks noChangeAspect="1"/>
          </p:cNvPicPr>
          <p:nvPr/>
        </p:nvPicPr>
        <p:blipFill>
          <a:blip r:embed="rId1"/>
          <a:srcRect l="0" r="0" t="0" b="0"/>
          <a:stretch/>
        </p:blipFill>
        <p:spPr>
          <a:xfrm>
            <a:off x="812800" y="63500"/>
            <a:ext cx="825500" cy="825500"/>
          </a:xfrm>
          <a:prstGeom prst="rect">
            <a:avLst/>
          </a:prstGeom>
        </p:spPr>
      </p:pic>
      <p:pic>
        <p:nvPicPr>
          <p:cNvPr id="5" name="Image 1" descr="شعار رواد مصر الرقمية">    </p:cNvPr>
          <p:cNvPicPr>
            <a:picLocks noChangeAspect="1"/>
          </p:cNvPicPr>
          <p:nvPr/>
        </p:nvPicPr>
        <p:blipFill>
          <a:blip r:embed="rId2"/>
          <a:srcRect l="0" r="0" t="-223" b="-223"/>
          <a:stretch/>
        </p:blipFill>
        <p:spPr>
          <a:xfrm>
            <a:off x="10553700" y="63500"/>
            <a:ext cx="825500" cy="825500"/>
          </a:xfrm>
          <a:prstGeom prst="rect">
            <a:avLst/>
          </a:prstGeom>
        </p:spPr>
      </p:pic>
      <p:sp>
        <p:nvSpPr>
          <p:cNvPr id="6" name="Text 2"/>
          <p:cNvSpPr/>
          <p:nvPr/>
        </p:nvSpPr>
        <p:spPr>
          <a:xfrm>
            <a:off x="3479800" y="292100"/>
            <a:ext cx="5232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33B"/>
                </a:solidFill>
                <a:latin typeface="Cairo" pitchFamily="34" charset="0"/>
                <a:ea typeface="Cairo" pitchFamily="34" charset="-122"/>
                <a:cs typeface="Cairo" pitchFamily="34" charset="-120"/>
              </a:rPr>
              <a:t>Simple Bank Account</a:t>
            </a:r>
            <a:endParaRPr lang="en-US" sz="1800" dirty="0"/>
          </a:p>
        </p:txBody>
      </p:sp>
      <p:sp>
        <p:nvSpPr>
          <p:cNvPr id="7" name="Text 3"/>
          <p:cNvSpPr/>
          <p:nvPr/>
        </p:nvSpPr>
        <p:spPr>
          <a:xfrm>
            <a:off x="495808" y="1333500"/>
            <a:ext cx="10883392"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8A2432"/>
                </a:solidFill>
                <a:latin typeface="Cairo" pitchFamily="34" charset="0"/>
                <a:ea typeface="Cairo" pitchFamily="34" charset="-122"/>
                <a:cs typeface="Cairo" pitchFamily="34" charset="-120"/>
              </a:rPr>
              <a:t>العضو 3 · واجهة المستخدم</a:t>
            </a:r>
            <a:endParaRPr lang="en-US" sz="1600" dirty="0"/>
          </a:p>
        </p:txBody>
      </p:sp>
      <p:sp>
        <p:nvSpPr>
          <p:cNvPr id="8" name="Text 4"/>
          <p:cNvSpPr/>
          <p:nvPr>
            <p:ph type="title"/>
          </p:nvPr>
        </p:nvSpPr>
        <p:spPr>
          <a:xfrm>
            <a:off x="495808" y="1656082"/>
            <a:ext cx="10883392" cy="492760"/>
          </a:xfrm>
          <a:prstGeom prst="rect">
            <a:avLst/>
          </a:prstGeom>
          <a:noFill/>
          <a:ln/>
        </p:spPr>
        <p:txBody>
          <a:bodyPr wrap="square" lIns="0" tIns="0" rIns="0" bIns="0" rtlCol="0" anchor="t">
            <a:normAutofit/>
          </a:bodyPr>
          <a:lstStyle/>
          <a:p>
            <a:pPr algn="r" indent="0" marL="0">
              <a:lnSpc>
                <a:spcPts val="3680"/>
              </a:lnSpc>
              <a:buNone/>
            </a:pPr>
            <a:r>
              <a:rPr lang="en-US" sz="3200" b="1" i="0" dirty="0">
                <a:solidFill>
                  <a:srgbClr val="17233B"/>
                </a:solidFill>
                <a:latin typeface="Cairo" pitchFamily="34" charset="0"/>
                <a:ea typeface="Cairo" pitchFamily="34" charset="-122"/>
                <a:cs typeface="Cairo" pitchFamily="34" charset="-120"/>
              </a:rPr>
              <a:t>Mohamed Sami Fekry</a:t>
            </a:r>
            <a:endParaRPr lang="en-US" sz="3200" dirty="0"/>
          </a:p>
        </p:txBody>
      </p:sp>
      <p:sp>
        <p:nvSpPr>
          <p:cNvPr id="9" name="Text 5"/>
          <p:cNvSpPr/>
          <p:nvPr/>
        </p:nvSpPr>
        <p:spPr>
          <a:xfrm>
            <a:off x="495808" y="2161539"/>
            <a:ext cx="10883392"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A6169"/>
                </a:solidFill>
                <a:latin typeface="Courier New" pitchFamily="49" charset="0"/>
                <a:ea typeface="Courier New" pitchFamily="49" charset="-122"/>
                <a:cs typeface="Courier New" pitchFamily="49" charset="-120"/>
              </a:rPr>
              <a:t>UI/MainMenu.cs · UI/ConsoleHelper.cs</a:t>
            </a:r>
            <a:endParaRPr lang="en-US" sz="1400" dirty="0"/>
          </a:p>
        </p:txBody>
      </p:sp>
      <p:sp>
        <p:nvSpPr>
          <p:cNvPr id="10" name="Shape 6"/>
          <p:cNvSpPr/>
          <p:nvPr/>
        </p:nvSpPr>
        <p:spPr>
          <a:xfrm>
            <a:off x="812800" y="2639061"/>
            <a:ext cx="5181600" cy="1963420"/>
          </a:xfrm>
          <a:prstGeom prst="roundRect">
            <a:avLst>
              <a:gd name="adj" fmla="val 5175"/>
            </a:avLst>
          </a:prstGeom>
          <a:solidFill>
            <a:srgbClr val="17233B"/>
          </a:solidFill>
          <a:ln/>
        </p:spPr>
      </p:sp>
      <p:sp>
        <p:nvSpPr>
          <p:cNvPr id="11" name="Text 7"/>
          <p:cNvSpPr/>
          <p:nvPr/>
        </p:nvSpPr>
        <p:spPr>
          <a:xfrm>
            <a:off x="926592" y="2867661"/>
            <a:ext cx="4813808" cy="299720"/>
          </a:xfrm>
          <a:prstGeom prst="rect">
            <a:avLst/>
          </a:prstGeom>
          <a:noFill/>
          <a:ln/>
        </p:spPr>
        <p:txBody>
          <a:bodyPr wrap="square" lIns="0" tIns="0" rIns="0" bIns="0" rtlCol="0" anchor="t">
            <a:normAutofit/>
          </a:bodyPr>
          <a:lstStyle/>
          <a:p>
            <a:pPr algn="r" indent="0" marL="0">
              <a:lnSpc>
                <a:spcPts val="2160"/>
              </a:lnSpc>
              <a:buNone/>
            </a:pPr>
            <a:r>
              <a:rPr lang="en-US" sz="1800" b="1" dirty="0">
                <a:solidFill>
                  <a:srgbClr val="7FD1C7"/>
                </a:solidFill>
                <a:latin typeface="Cairo" pitchFamily="34" charset="0"/>
                <a:ea typeface="Cairo" pitchFamily="34" charset="-122"/>
                <a:cs typeface="Cairo" pitchFamily="34" charset="-120"/>
              </a:rPr>
              <a:t>من الكود</a:t>
            </a:r>
            <a:endParaRPr lang="en-US" sz="1800" dirty="0"/>
          </a:p>
        </p:txBody>
      </p:sp>
      <p:sp>
        <p:nvSpPr>
          <p:cNvPr id="12" name="Text 8"/>
          <p:cNvSpPr/>
          <p:nvPr/>
        </p:nvSpPr>
        <p:spPr>
          <a:xfrm>
            <a:off x="1066800" y="3230882"/>
            <a:ext cx="4813808"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if (int.TryParse(input,</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    out int value))</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    return value;</a:t>
            </a:r>
            <a:endParaRPr lang="en-US" sz="1200" dirty="0"/>
          </a:p>
          <a:p>
            <a:pPr algn="l" indent="0" marL="0">
              <a:lnSpc>
                <a:spcPts val="1800"/>
              </a:lnSpc>
              <a:buNone/>
            </a:pP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ShowError("Invalid input.");</a:t>
            </a:r>
            <a:endParaRPr lang="en-US" sz="1200" dirty="0"/>
          </a:p>
        </p:txBody>
      </p:sp>
      <p:sp>
        <p:nvSpPr>
          <p:cNvPr id="13" name="Shape 9"/>
          <p:cNvSpPr/>
          <p:nvPr/>
        </p:nvSpPr>
        <p:spPr>
          <a:xfrm>
            <a:off x="6197600" y="2639061"/>
            <a:ext cx="5181600" cy="2214880"/>
          </a:xfrm>
          <a:prstGeom prst="roundRect">
            <a:avLst>
              <a:gd name="adj" fmla="val 4587"/>
            </a:avLst>
          </a:prstGeom>
          <a:solidFill>
            <a:srgbClr val="FFFFFF"/>
          </a:solidFill>
          <a:ln/>
        </p:spPr>
      </p:sp>
      <p:sp>
        <p:nvSpPr>
          <p:cNvPr id="14" name="Text 10"/>
          <p:cNvSpPr/>
          <p:nvPr/>
        </p:nvSpPr>
        <p:spPr>
          <a:xfrm>
            <a:off x="6311392" y="2867661"/>
            <a:ext cx="4813808" cy="360680"/>
          </a:xfrm>
          <a:prstGeom prst="rect">
            <a:avLst/>
          </a:prstGeom>
          <a:noFill/>
          <a:ln/>
        </p:spPr>
        <p:txBody>
          <a:bodyPr wrap="square" lIns="0" tIns="0" rIns="0" bIns="0" rtlCol="0" anchor="t">
            <a:normAutofit/>
          </a:bodyPr>
          <a:lstStyle/>
          <a:p>
            <a:pPr algn="r" indent="0" marL="0">
              <a:lnSpc>
                <a:spcPts val="2640"/>
              </a:lnSpc>
              <a:buNone/>
            </a:pPr>
            <a:r>
              <a:rPr lang="en-US" sz="2200" b="1" dirty="0">
                <a:solidFill>
                  <a:srgbClr val="8A2432"/>
                </a:solidFill>
                <a:latin typeface="Cairo" pitchFamily="34" charset="0"/>
                <a:ea typeface="Cairo" pitchFamily="34" charset="-122"/>
                <a:cs typeface="Cairo" pitchFamily="34" charset="-120"/>
              </a:rPr>
              <a:t>عمل إيه؟</a:t>
            </a:r>
            <a:endParaRPr lang="en-US" sz="2200" dirty="0"/>
          </a:p>
        </p:txBody>
      </p:sp>
      <p:sp>
        <p:nvSpPr>
          <p:cNvPr id="15" name="Text 11"/>
          <p:cNvSpPr/>
          <p:nvPr/>
        </p:nvSpPr>
        <p:spPr>
          <a:xfrm>
            <a:off x="6311392" y="3291839"/>
            <a:ext cx="4813808"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صمم القائمة: عرض الرصيد، إيداع، سحب، خروج</a:t>
            </a:r>
            <a:endParaRPr lang="en-US" sz="1500" dirty="0"/>
          </a:p>
        </p:txBody>
      </p:sp>
      <p:sp>
        <p:nvSpPr>
          <p:cNvPr id="16" name="Text 12"/>
          <p:cNvSpPr/>
          <p:nvPr/>
        </p:nvSpPr>
        <p:spPr>
          <a:xfrm>
            <a:off x="6311392" y="3647439"/>
            <a:ext cx="4813808"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ConsoleHelper يقرأ الأرقام ويعيد السؤال لو الإدخال غلط</a:t>
            </a:r>
            <a:endParaRPr lang="en-US" sz="1500" dirty="0"/>
          </a:p>
        </p:txBody>
      </p:sp>
      <p:sp>
        <p:nvSpPr>
          <p:cNvPr id="17" name="Text 13"/>
          <p:cNvSpPr/>
          <p:nvPr/>
        </p:nvSpPr>
        <p:spPr>
          <a:xfrm>
            <a:off x="6311392" y="4003039"/>
            <a:ext cx="4813808"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رسائل نجاح وفشل بألوان مختلفة</a:t>
            </a:r>
            <a:endParaRPr lang="en-US" sz="1500" dirty="0"/>
          </a:p>
        </p:txBody>
      </p:sp>
      <p:sp>
        <p:nvSpPr>
          <p:cNvPr id="18" name="Text 14"/>
          <p:cNvSpPr/>
          <p:nvPr/>
        </p:nvSpPr>
        <p:spPr>
          <a:xfrm>
            <a:off x="6311392" y="4358639"/>
            <a:ext cx="4813808"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مسك الأخطاء بـ try/catch فالبرنامج مايقعش</a:t>
            </a:r>
            <a:endParaRPr lang="en-US" sz="1500" dirty="0"/>
          </a:p>
        </p:txBody>
      </p:sp>
      <p:sp>
        <p:nvSpPr>
          <p:cNvPr id="19" name="Text 15"/>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169"/>
                </a:solidFill>
                <a:latin typeface="Cairo" pitchFamily="34" charset="0"/>
                <a:ea typeface="Cairo" pitchFamily="34" charset="-122"/>
                <a:cs typeface="Cairo" pitchFamily="34" charset="-120"/>
              </a:rPr>
              <a:t>Team 1</a:t>
            </a:r>
            <a:endParaRPr lang="en-US" sz="1200" dirty="0"/>
          </a:p>
        </p:txBody>
      </p:sp>
      <p:sp>
        <p:nvSpPr>
          <p:cNvPr id="20"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169"/>
                </a:solidFill>
                <a:latin typeface="Cairo" pitchFamily="34" charset="0"/>
                <a:ea typeface="Cairo" pitchFamily="34" charset="-122"/>
                <a:cs typeface="Cairo"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FFFFFF"/>
          </a:solidFill>
          <a:ln/>
        </p:spPr>
      </p:sp>
      <p:sp>
        <p:nvSpPr>
          <p:cNvPr id="3" name="Shape 1"/>
          <p:cNvSpPr/>
          <p:nvPr/>
        </p:nvSpPr>
        <p:spPr>
          <a:xfrm>
            <a:off x="0" y="939800"/>
            <a:ext cx="12192000" cy="0"/>
          </a:xfrm>
          <a:prstGeom prst="line">
            <a:avLst/>
          </a:prstGeom>
          <a:noFill/>
          <a:ln w="25400">
            <a:solidFill>
              <a:srgbClr val="8A2432"/>
            </a:solidFill>
            <a:prstDash val="solid"/>
          </a:ln>
        </p:spPr>
      </p:sp>
      <p:pic>
        <p:nvPicPr>
          <p:cNvPr id="4" name="Image 0" descr="شعار ITC">    </p:cNvPr>
          <p:cNvPicPr>
            <a:picLocks noChangeAspect="1"/>
          </p:cNvPicPr>
          <p:nvPr/>
        </p:nvPicPr>
        <p:blipFill>
          <a:blip r:embed="rId1"/>
          <a:srcRect l="0" r="0" t="0" b="0"/>
          <a:stretch/>
        </p:blipFill>
        <p:spPr>
          <a:xfrm>
            <a:off x="812800" y="63500"/>
            <a:ext cx="825500" cy="825500"/>
          </a:xfrm>
          <a:prstGeom prst="rect">
            <a:avLst/>
          </a:prstGeom>
        </p:spPr>
      </p:pic>
      <p:pic>
        <p:nvPicPr>
          <p:cNvPr id="5" name="Image 1" descr="شعار رواد مصر الرقمية">    </p:cNvPr>
          <p:cNvPicPr>
            <a:picLocks noChangeAspect="1"/>
          </p:cNvPicPr>
          <p:nvPr/>
        </p:nvPicPr>
        <p:blipFill>
          <a:blip r:embed="rId2"/>
          <a:srcRect l="0" r="0" t="-223" b="-223"/>
          <a:stretch/>
        </p:blipFill>
        <p:spPr>
          <a:xfrm>
            <a:off x="10553700" y="63500"/>
            <a:ext cx="825500" cy="825500"/>
          </a:xfrm>
          <a:prstGeom prst="rect">
            <a:avLst/>
          </a:prstGeom>
        </p:spPr>
      </p:pic>
      <p:sp>
        <p:nvSpPr>
          <p:cNvPr id="6" name="Text 2"/>
          <p:cNvSpPr/>
          <p:nvPr/>
        </p:nvSpPr>
        <p:spPr>
          <a:xfrm>
            <a:off x="3479800" y="292100"/>
            <a:ext cx="5232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33B"/>
                </a:solidFill>
                <a:latin typeface="Cairo" pitchFamily="34" charset="0"/>
                <a:ea typeface="Cairo" pitchFamily="34" charset="-122"/>
                <a:cs typeface="Cairo" pitchFamily="34" charset="-120"/>
              </a:rPr>
              <a:t>Simple Bank Account</a:t>
            </a:r>
            <a:endParaRPr lang="en-US" sz="1800" dirty="0"/>
          </a:p>
        </p:txBody>
      </p:sp>
      <p:sp>
        <p:nvSpPr>
          <p:cNvPr id="7" name="Text 3"/>
          <p:cNvSpPr/>
          <p:nvPr/>
        </p:nvSpPr>
        <p:spPr>
          <a:xfrm>
            <a:off x="495808" y="1333500"/>
            <a:ext cx="10883392"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8A2432"/>
                </a:solidFill>
                <a:latin typeface="Cairo" pitchFamily="34" charset="0"/>
                <a:ea typeface="Cairo" pitchFamily="34" charset="-122"/>
                <a:cs typeface="Cairo" pitchFamily="34" charset="-120"/>
              </a:rPr>
              <a:t>العضو 4 · الربط والتشغيل</a:t>
            </a:r>
            <a:endParaRPr lang="en-US" sz="1600" dirty="0"/>
          </a:p>
        </p:txBody>
      </p:sp>
      <p:sp>
        <p:nvSpPr>
          <p:cNvPr id="8" name="Text 4"/>
          <p:cNvSpPr/>
          <p:nvPr>
            <p:ph type="title"/>
          </p:nvPr>
        </p:nvSpPr>
        <p:spPr>
          <a:xfrm>
            <a:off x="495808" y="1656082"/>
            <a:ext cx="10883392" cy="492760"/>
          </a:xfrm>
          <a:prstGeom prst="rect">
            <a:avLst/>
          </a:prstGeom>
          <a:noFill/>
          <a:ln/>
        </p:spPr>
        <p:txBody>
          <a:bodyPr wrap="square" lIns="0" tIns="0" rIns="0" bIns="0" rtlCol="0" anchor="t">
            <a:normAutofit/>
          </a:bodyPr>
          <a:lstStyle/>
          <a:p>
            <a:pPr algn="r" indent="0" marL="0">
              <a:lnSpc>
                <a:spcPts val="3680"/>
              </a:lnSpc>
              <a:buNone/>
            </a:pPr>
            <a:r>
              <a:rPr lang="en-US" sz="3200" b="1" i="0" dirty="0">
                <a:solidFill>
                  <a:srgbClr val="17233B"/>
                </a:solidFill>
                <a:latin typeface="Cairo" pitchFamily="34" charset="0"/>
                <a:ea typeface="Cairo" pitchFamily="34" charset="-122"/>
                <a:cs typeface="Cairo" pitchFamily="34" charset="-120"/>
              </a:rPr>
              <a:t>Ahmed Mohamed Ezzat</a:t>
            </a:r>
            <a:endParaRPr lang="en-US" sz="3200" dirty="0"/>
          </a:p>
        </p:txBody>
      </p:sp>
      <p:sp>
        <p:nvSpPr>
          <p:cNvPr id="9" name="Text 5"/>
          <p:cNvSpPr/>
          <p:nvPr/>
        </p:nvSpPr>
        <p:spPr>
          <a:xfrm>
            <a:off x="495808" y="2161539"/>
            <a:ext cx="10883392"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A6169"/>
                </a:solidFill>
                <a:latin typeface="Courier New" pitchFamily="49" charset="0"/>
                <a:ea typeface="Courier New" pitchFamily="49" charset="-122"/>
                <a:cs typeface="Courier New" pitchFamily="49" charset="-120"/>
              </a:rPr>
              <a:t>Program.cs</a:t>
            </a:r>
            <a:endParaRPr lang="en-US" sz="1400" dirty="0"/>
          </a:p>
        </p:txBody>
      </p:sp>
      <p:sp>
        <p:nvSpPr>
          <p:cNvPr id="10" name="Shape 6"/>
          <p:cNvSpPr/>
          <p:nvPr/>
        </p:nvSpPr>
        <p:spPr>
          <a:xfrm>
            <a:off x="812800" y="2639061"/>
            <a:ext cx="5176520" cy="2192020"/>
          </a:xfrm>
          <a:prstGeom prst="roundRect">
            <a:avLst>
              <a:gd name="adj" fmla="val 4635"/>
            </a:avLst>
          </a:prstGeom>
          <a:solidFill>
            <a:srgbClr val="17233B"/>
          </a:solidFill>
          <a:ln/>
        </p:spPr>
      </p:sp>
      <p:sp>
        <p:nvSpPr>
          <p:cNvPr id="11" name="Text 7"/>
          <p:cNvSpPr/>
          <p:nvPr/>
        </p:nvSpPr>
        <p:spPr>
          <a:xfrm>
            <a:off x="926744" y="2867661"/>
            <a:ext cx="4808576" cy="299720"/>
          </a:xfrm>
          <a:prstGeom prst="rect">
            <a:avLst/>
          </a:prstGeom>
          <a:noFill/>
          <a:ln/>
        </p:spPr>
        <p:txBody>
          <a:bodyPr wrap="square" lIns="0" tIns="0" rIns="0" bIns="0" rtlCol="0" anchor="t">
            <a:normAutofit/>
          </a:bodyPr>
          <a:lstStyle/>
          <a:p>
            <a:pPr algn="r" indent="0" marL="0">
              <a:lnSpc>
                <a:spcPts val="2160"/>
              </a:lnSpc>
              <a:buNone/>
            </a:pPr>
            <a:r>
              <a:rPr lang="en-US" sz="1800" b="1" dirty="0">
                <a:solidFill>
                  <a:srgbClr val="7FD1C7"/>
                </a:solidFill>
                <a:latin typeface="Cairo" pitchFamily="34" charset="0"/>
                <a:ea typeface="Cairo" pitchFamily="34" charset="-122"/>
                <a:cs typeface="Cairo" pitchFamily="34" charset="-120"/>
              </a:rPr>
              <a:t>من الكود</a:t>
            </a:r>
            <a:endParaRPr lang="en-US" sz="1800" dirty="0"/>
          </a:p>
        </p:txBody>
      </p:sp>
      <p:sp>
        <p:nvSpPr>
          <p:cNvPr id="12" name="Text 8"/>
          <p:cNvSpPr/>
          <p:nvPr/>
        </p:nvSpPr>
        <p:spPr>
          <a:xfrm>
            <a:off x="1066800" y="3230882"/>
            <a:ext cx="4808576" cy="1397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var customer = new Customer(</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    1, name, email, phone);</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var account = new BankAccount(</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    "ACC-001", customer, 0m);</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var service = new TransactionService();</a:t>
            </a:r>
            <a:endParaRPr lang="en-US" sz="1200" dirty="0"/>
          </a:p>
          <a:p>
            <a:pPr algn="l" indent="0" marL="0">
              <a:lnSpc>
                <a:spcPts val="1800"/>
              </a:lnSpc>
              <a:buNone/>
            </a:pPr>
            <a:r>
              <a:rPr lang="en-US" sz="1200" dirty="0">
                <a:solidFill>
                  <a:srgbClr val="F6F4EF"/>
                </a:solidFill>
                <a:latin typeface="Courier New" pitchFamily="49" charset="0"/>
                <a:ea typeface="Courier New" pitchFamily="49" charset="-122"/>
                <a:cs typeface="Courier New" pitchFamily="49" charset="-120"/>
              </a:rPr>
              <a:t>new MainMenu(service, account).Run();</a:t>
            </a:r>
            <a:endParaRPr lang="en-US" sz="1200" dirty="0"/>
          </a:p>
        </p:txBody>
      </p:sp>
      <p:sp>
        <p:nvSpPr>
          <p:cNvPr id="13" name="Shape 9"/>
          <p:cNvSpPr/>
          <p:nvPr/>
        </p:nvSpPr>
        <p:spPr>
          <a:xfrm>
            <a:off x="6195695" y="2642236"/>
            <a:ext cx="5180330" cy="2218690"/>
          </a:xfrm>
          <a:prstGeom prst="roundRect">
            <a:avLst>
              <a:gd name="adj" fmla="val 4436"/>
            </a:avLst>
          </a:prstGeom>
          <a:solidFill>
            <a:srgbClr val="FFFFFF"/>
          </a:solidFill>
          <a:ln w="6350">
            <a:solidFill>
              <a:srgbClr val="E1DDD2"/>
            </a:solidFill>
            <a:prstDash val="solid"/>
          </a:ln>
        </p:spPr>
      </p:sp>
      <p:sp>
        <p:nvSpPr>
          <p:cNvPr id="14" name="Text 10"/>
          <p:cNvSpPr/>
          <p:nvPr/>
        </p:nvSpPr>
        <p:spPr>
          <a:xfrm>
            <a:off x="6311544" y="2872739"/>
            <a:ext cx="4808576" cy="360680"/>
          </a:xfrm>
          <a:prstGeom prst="rect">
            <a:avLst/>
          </a:prstGeom>
          <a:noFill/>
          <a:ln/>
        </p:spPr>
        <p:txBody>
          <a:bodyPr wrap="square" lIns="0" tIns="0" rIns="0" bIns="0" rtlCol="0" anchor="t">
            <a:normAutofit/>
          </a:bodyPr>
          <a:lstStyle/>
          <a:p>
            <a:pPr algn="r" indent="0" marL="0">
              <a:lnSpc>
                <a:spcPts val="2640"/>
              </a:lnSpc>
              <a:buNone/>
            </a:pPr>
            <a:r>
              <a:rPr lang="en-US" sz="2200" b="1" dirty="0">
                <a:solidFill>
                  <a:srgbClr val="8A2432"/>
                </a:solidFill>
                <a:latin typeface="Cairo" pitchFamily="34" charset="0"/>
                <a:ea typeface="Cairo" pitchFamily="34" charset="-122"/>
                <a:cs typeface="Cairo" pitchFamily="34" charset="-120"/>
              </a:rPr>
              <a:t>عمل إيه؟</a:t>
            </a:r>
            <a:endParaRPr lang="en-US" sz="2200" dirty="0"/>
          </a:p>
        </p:txBody>
      </p:sp>
      <p:sp>
        <p:nvSpPr>
          <p:cNvPr id="15" name="Text 11"/>
          <p:cNvSpPr/>
          <p:nvPr/>
        </p:nvSpPr>
        <p:spPr>
          <a:xfrm>
            <a:off x="6311544" y="3296921"/>
            <a:ext cx="4808576"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شغّل البرنامج من Main()</a:t>
            </a:r>
            <a:endParaRPr lang="en-US" sz="1500" dirty="0"/>
          </a:p>
        </p:txBody>
      </p:sp>
      <p:sp>
        <p:nvSpPr>
          <p:cNvPr id="16" name="Text 12"/>
          <p:cNvSpPr/>
          <p:nvPr/>
        </p:nvSpPr>
        <p:spPr>
          <a:xfrm>
            <a:off x="6311544" y="3652521"/>
            <a:ext cx="4808576"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أنشأ العميل والحساب التجريبي</a:t>
            </a:r>
            <a:endParaRPr lang="en-US" sz="1500" dirty="0"/>
          </a:p>
        </p:txBody>
      </p:sp>
      <p:sp>
        <p:nvSpPr>
          <p:cNvPr id="17" name="Text 13"/>
          <p:cNvSpPr/>
          <p:nvPr/>
        </p:nvSpPr>
        <p:spPr>
          <a:xfrm>
            <a:off x="6311544" y="4008121"/>
            <a:ext cx="4808576"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ربط MainMenu بـ TransactionService والحساب</a:t>
            </a:r>
            <a:endParaRPr lang="en-US" sz="1500" dirty="0"/>
          </a:p>
        </p:txBody>
      </p:sp>
      <p:sp>
        <p:nvSpPr>
          <p:cNvPr id="18" name="Text 14"/>
          <p:cNvSpPr/>
          <p:nvPr/>
        </p:nvSpPr>
        <p:spPr>
          <a:xfrm>
            <a:off x="6198870" y="4363721"/>
            <a:ext cx="492125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تأكد إن أسماء الكلاسات والميثودات متوافقة بين الأعضاء</a:t>
            </a:r>
            <a:endParaRPr lang="en-US" sz="1500" dirty="0"/>
          </a:p>
        </p:txBody>
      </p:sp>
      <p:sp>
        <p:nvSpPr>
          <p:cNvPr id="19" name="Text 15"/>
          <p:cNvSpPr/>
          <p:nvPr/>
        </p:nvSpPr>
        <p:spPr>
          <a:xfrm>
            <a:off x="812800" y="6238242"/>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169"/>
                </a:solidFill>
                <a:latin typeface="Cairo" pitchFamily="34" charset="0"/>
                <a:ea typeface="Cairo" pitchFamily="34" charset="-122"/>
                <a:cs typeface="Cairo" pitchFamily="34" charset="-120"/>
              </a:rPr>
              <a:t>Team 1</a:t>
            </a:r>
            <a:endParaRPr lang="en-US" sz="1200" dirty="0"/>
          </a:p>
        </p:txBody>
      </p:sp>
      <p:sp>
        <p:nvSpPr>
          <p:cNvPr id="20"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169"/>
                </a:solidFill>
                <a:latin typeface="Cairo" pitchFamily="34" charset="0"/>
                <a:ea typeface="Cairo" pitchFamily="34" charset="-122"/>
                <a:cs typeface="Cairo" pitchFamily="34"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8DE"/>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FFFFFF"/>
          </a:solidFill>
          <a:ln/>
        </p:spPr>
      </p:sp>
      <p:sp>
        <p:nvSpPr>
          <p:cNvPr id="3" name="Shape 1"/>
          <p:cNvSpPr/>
          <p:nvPr/>
        </p:nvSpPr>
        <p:spPr>
          <a:xfrm>
            <a:off x="0" y="939800"/>
            <a:ext cx="12192000" cy="0"/>
          </a:xfrm>
          <a:prstGeom prst="line">
            <a:avLst/>
          </a:prstGeom>
          <a:noFill/>
          <a:ln w="25400">
            <a:solidFill>
              <a:srgbClr val="8A2432"/>
            </a:solidFill>
            <a:prstDash val="solid"/>
          </a:ln>
        </p:spPr>
      </p:sp>
      <p:pic>
        <p:nvPicPr>
          <p:cNvPr id="4" name="Image 0" descr="شعار ITC">    </p:cNvPr>
          <p:cNvPicPr>
            <a:picLocks noChangeAspect="1"/>
          </p:cNvPicPr>
          <p:nvPr/>
        </p:nvPicPr>
        <p:blipFill>
          <a:blip r:embed="rId1"/>
          <a:srcRect l="0" r="0" t="0" b="0"/>
          <a:stretch/>
        </p:blipFill>
        <p:spPr>
          <a:xfrm>
            <a:off x="812800" y="63500"/>
            <a:ext cx="825500" cy="825500"/>
          </a:xfrm>
          <a:prstGeom prst="rect">
            <a:avLst/>
          </a:prstGeom>
        </p:spPr>
      </p:pic>
      <p:pic>
        <p:nvPicPr>
          <p:cNvPr id="5" name="Image 1" descr="شعار رواد مصر الرقمية">    </p:cNvPr>
          <p:cNvPicPr>
            <a:picLocks noChangeAspect="1"/>
          </p:cNvPicPr>
          <p:nvPr/>
        </p:nvPicPr>
        <p:blipFill>
          <a:blip r:embed="rId2"/>
          <a:srcRect l="0" r="0" t="-223" b="-223"/>
          <a:stretch/>
        </p:blipFill>
        <p:spPr>
          <a:xfrm>
            <a:off x="10553700" y="63500"/>
            <a:ext cx="825500" cy="825500"/>
          </a:xfrm>
          <a:prstGeom prst="rect">
            <a:avLst/>
          </a:prstGeom>
        </p:spPr>
      </p:pic>
      <p:sp>
        <p:nvSpPr>
          <p:cNvPr id="6" name="Text 2"/>
          <p:cNvSpPr/>
          <p:nvPr/>
        </p:nvSpPr>
        <p:spPr>
          <a:xfrm>
            <a:off x="3479800" y="292100"/>
            <a:ext cx="5232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33B"/>
                </a:solidFill>
                <a:latin typeface="Cairo" pitchFamily="34" charset="0"/>
                <a:ea typeface="Cairo" pitchFamily="34" charset="-122"/>
                <a:cs typeface="Cairo" pitchFamily="34" charset="-120"/>
              </a:rPr>
              <a:t>Simple Bank Account</a:t>
            </a:r>
            <a:endParaRPr lang="en-US" sz="1800" dirty="0"/>
          </a:p>
        </p:txBody>
      </p:sp>
      <p:sp>
        <p:nvSpPr>
          <p:cNvPr id="7" name="Text 3"/>
          <p:cNvSpPr/>
          <p:nvPr/>
        </p:nvSpPr>
        <p:spPr>
          <a:xfrm>
            <a:off x="495808" y="1333500"/>
            <a:ext cx="10883392"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8A2432"/>
                </a:solidFill>
                <a:latin typeface="Cairo" pitchFamily="34" charset="0"/>
                <a:ea typeface="Cairo" pitchFamily="34" charset="-122"/>
                <a:cs typeface="Cairo" pitchFamily="34" charset="-120"/>
              </a:rPr>
              <a:t>العضو 5 · الاختبار والمراجعة والتوثيق</a:t>
            </a:r>
            <a:endParaRPr lang="en-US" sz="1600" dirty="0"/>
          </a:p>
        </p:txBody>
      </p:sp>
      <p:sp>
        <p:nvSpPr>
          <p:cNvPr id="8" name="Text 4"/>
          <p:cNvSpPr/>
          <p:nvPr>
            <p:ph type="title"/>
          </p:nvPr>
        </p:nvSpPr>
        <p:spPr>
          <a:xfrm>
            <a:off x="495808" y="1656079"/>
            <a:ext cx="10883392" cy="492760"/>
          </a:xfrm>
          <a:prstGeom prst="rect">
            <a:avLst/>
          </a:prstGeom>
          <a:noFill/>
          <a:ln/>
        </p:spPr>
        <p:txBody>
          <a:bodyPr wrap="square" lIns="0" tIns="0" rIns="0" bIns="0" rtlCol="0" anchor="t">
            <a:normAutofit/>
          </a:bodyPr>
          <a:lstStyle/>
          <a:p>
            <a:pPr algn="r" indent="0" marL="0">
              <a:lnSpc>
                <a:spcPts val="3680"/>
              </a:lnSpc>
              <a:buNone/>
            </a:pPr>
            <a:r>
              <a:rPr lang="en-US" sz="3200" b="1" i="0" dirty="0">
                <a:solidFill>
                  <a:srgbClr val="17233B"/>
                </a:solidFill>
                <a:latin typeface="Cairo" pitchFamily="34" charset="0"/>
                <a:ea typeface="Cairo" pitchFamily="34" charset="-122"/>
                <a:cs typeface="Cairo" pitchFamily="34" charset="-120"/>
              </a:rPr>
              <a:t>Abdallah Ayman Fathy</a:t>
            </a:r>
            <a:endParaRPr lang="en-US" sz="3200" dirty="0"/>
          </a:p>
        </p:txBody>
      </p:sp>
      <p:sp>
        <p:nvSpPr>
          <p:cNvPr id="9" name="Text 5"/>
          <p:cNvSpPr/>
          <p:nvPr/>
        </p:nvSpPr>
        <p:spPr>
          <a:xfrm>
            <a:off x="495808" y="2161542"/>
            <a:ext cx="10883392"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A6169"/>
                </a:solidFill>
                <a:latin typeface="Courier New" pitchFamily="49" charset="0"/>
                <a:ea typeface="Courier New" pitchFamily="49" charset="-122"/>
                <a:cs typeface="Courier New" pitchFamily="49" charset="-120"/>
              </a:rPr>
              <a:t>README.md · TestReport.md · Demo video</a:t>
            </a:r>
            <a:endParaRPr lang="en-US" sz="1400" dirty="0"/>
          </a:p>
        </p:txBody>
      </p:sp>
      <p:sp>
        <p:nvSpPr>
          <p:cNvPr id="10" name="Shape 6"/>
          <p:cNvSpPr/>
          <p:nvPr/>
        </p:nvSpPr>
        <p:spPr>
          <a:xfrm>
            <a:off x="812800" y="2639064"/>
            <a:ext cx="5181600" cy="2614930"/>
          </a:xfrm>
          <a:prstGeom prst="roundRect">
            <a:avLst>
              <a:gd name="adj" fmla="val 3885"/>
            </a:avLst>
          </a:prstGeom>
          <a:solidFill>
            <a:srgbClr val="17233B"/>
          </a:solidFill>
          <a:ln/>
        </p:spPr>
      </p:sp>
      <p:sp>
        <p:nvSpPr>
          <p:cNvPr id="11" name="Text 7"/>
          <p:cNvSpPr/>
          <p:nvPr/>
        </p:nvSpPr>
        <p:spPr>
          <a:xfrm>
            <a:off x="926592" y="2867664"/>
            <a:ext cx="4813808" cy="299720"/>
          </a:xfrm>
          <a:prstGeom prst="rect">
            <a:avLst/>
          </a:prstGeom>
          <a:noFill/>
          <a:ln/>
        </p:spPr>
        <p:txBody>
          <a:bodyPr wrap="square" lIns="0" tIns="0" rIns="0" bIns="0" rtlCol="0" anchor="t">
            <a:normAutofit/>
          </a:bodyPr>
          <a:lstStyle/>
          <a:p>
            <a:pPr algn="r" indent="0" marL="0">
              <a:lnSpc>
                <a:spcPts val="2160"/>
              </a:lnSpc>
              <a:buNone/>
            </a:pPr>
            <a:r>
              <a:rPr lang="en-US" sz="1800" b="1" dirty="0">
                <a:solidFill>
                  <a:srgbClr val="7FD1C7"/>
                </a:solidFill>
                <a:latin typeface="Cairo" pitchFamily="34" charset="0"/>
                <a:ea typeface="Cairo" pitchFamily="34" charset="-122"/>
                <a:cs typeface="Cairo" pitchFamily="34" charset="-120"/>
              </a:rPr>
              <a:t>حالات الاختبار</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076960" y="3241039"/>
          <a:ext cx="4663440" cy="1784350"/>
        </p:xfrm>
        <a:graphic>
          <a:graphicData uri="http://schemas.openxmlformats.org/drawingml/2006/table">
            <a:tbl>
              <a:tblPr/>
              <a:tblGrid>
                <a:gridCol w="2611526"/>
                <a:gridCol w="2051914"/>
              </a:tblGrid>
              <a:tr h="356870">
                <a:tc>
                  <a:txBody>
                    <a:bodyPr/>
                    <a:lstStyle/>
                    <a:p>
                      <a:pPr indent="0" marL="0">
                        <a:lnSpc>
                          <a:spcPts val="1820"/>
                        </a:lnSpc>
                        <a:buNone/>
                      </a:pPr>
                      <a:r>
                        <a:rPr lang="en-US" sz="1300" b="1" dirty="0">
                          <a:solidFill>
                            <a:srgbClr val="F6F4EF"/>
                          </a:solidFill>
                          <a:latin typeface="Cairo" pitchFamily="34" charset="0"/>
                          <a:ea typeface="Cairo" pitchFamily="34" charset="-122"/>
                          <a:cs typeface="Cairo" pitchFamily="34" charset="-120"/>
                        </a:rPr>
                        <a:t>Case</a:t>
                      </a:r>
                      <a:endParaRPr lang="en-US" sz="1300" dirty="0">
                        <a:latin typeface="Cairo" charset="0"/>
                        <a:ea typeface="Cairo" charset="0"/>
                        <a:cs typeface="Cairo" charset="0"/>
                      </a:endParaRPr>
                    </a:p>
                  </a:txBody>
                  <a:tcPr marL="57785" marR="57785" marT="57785" marB="57785" anchor="t">
                    <a:lnL w="12700" cap="flat" cmpd="sng" algn="ctr">
                      <a:solidFill>
                        <a:srgbClr val="162032"/>
                      </a:solidFill>
                      <a:prstDash val="solid"/>
                      <a:round/>
                      <a:headEnd type="none" w="med" len="med"/>
                      <a:tailEnd type="none" w="med" len="med"/>
                    </a:lnL>
                    <a:lnR w="12700" cap="flat" cmpd="sng" algn="ctr">
                      <a:solidFill>
                        <a:srgbClr val="161F30"/>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161F30"/>
                      </a:solidFill>
                      <a:prstDash val="solid"/>
                      <a:round/>
                      <a:headEnd type="none" w="med" len="med"/>
                      <a:tailEnd type="none" w="med" len="med"/>
                    </a:lnB>
                    <a:solidFill>
                      <a:srgbClr val="172238"/>
                    </a:solidFill>
                  </a:tcPr>
                </a:tc>
                <a:tc>
                  <a:txBody>
                    <a:bodyPr/>
                    <a:lstStyle/>
                    <a:p>
                      <a:pPr indent="0" marL="0">
                        <a:lnSpc>
                          <a:spcPts val="1820"/>
                        </a:lnSpc>
                        <a:buNone/>
                      </a:pPr>
                      <a:r>
                        <a:rPr lang="en-US" sz="1300" b="1" dirty="0">
                          <a:solidFill>
                            <a:srgbClr val="F6F4EF"/>
                          </a:solidFill>
                          <a:latin typeface="Cairo" pitchFamily="34" charset="0"/>
                          <a:ea typeface="Cairo" pitchFamily="34" charset="-122"/>
                          <a:cs typeface="Cairo" pitchFamily="34" charset="-120"/>
                        </a:rPr>
                        <a:t>Result</a:t>
                      </a:r>
                      <a:endParaRPr lang="en-US" sz="1300" dirty="0">
                        <a:latin typeface="Cairo" charset="0"/>
                        <a:ea typeface="Cairo" charset="0"/>
                        <a:cs typeface="Cairo" charset="0"/>
                      </a:endParaRPr>
                    </a:p>
                  </a:txBody>
                  <a:tcPr marL="57785" marR="57785" marT="57785" marB="57785" anchor="t">
                    <a:lnL w="12700" cap="flat" cmpd="sng" algn="ctr">
                      <a:solidFill>
                        <a:srgbClr val="161F30"/>
                      </a:solidFill>
                      <a:prstDash val="solid"/>
                      <a:round/>
                      <a:headEnd type="none" w="med" len="med"/>
                      <a:tailEnd type="none" w="med" len="med"/>
                    </a:lnL>
                    <a:lnR w="12700" cap="flat" cmpd="sng" algn="ctr">
                      <a:solidFill>
                        <a:srgbClr val="161F30"/>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161F30"/>
                      </a:solidFill>
                      <a:prstDash val="solid"/>
                      <a:round/>
                      <a:headEnd type="none" w="med" len="med"/>
                      <a:tailEnd type="none" w="med" len="med"/>
                    </a:lnB>
                    <a:solidFill>
                      <a:srgbClr val="172238"/>
                    </a:solidFill>
                  </a:tcPr>
                </a:tc>
              </a:tr>
              <a:tr h="356870">
                <a:tc>
                  <a:txBody>
                    <a:bodyPr/>
                    <a:lstStyle/>
                    <a:p>
                      <a:pPr indent="0" marL="0">
                        <a:lnSpc>
                          <a:spcPts val="1820"/>
                        </a:lnSpc>
                        <a:buNone/>
                      </a:pPr>
                      <a:r>
                        <a:rPr lang="en-US" sz="1300" dirty="0">
                          <a:solidFill>
                            <a:srgbClr val="F6F4EF"/>
                          </a:solidFill>
                          <a:latin typeface="Cairo" pitchFamily="34" charset="0"/>
                          <a:ea typeface="Cairo" pitchFamily="34" charset="-122"/>
                          <a:cs typeface="Cairo" pitchFamily="34" charset="-120"/>
                        </a:rPr>
                        <a:t>Deposit 100</a:t>
                      </a:r>
                      <a:endParaRPr lang="en-US" sz="1300" dirty="0">
                        <a:latin typeface="Cairo" charset="0"/>
                        <a:ea typeface="Cairo" charset="0"/>
                        <a:cs typeface="Cairo" charset="0"/>
                      </a:endParaRPr>
                    </a:p>
                  </a:txBody>
                  <a:tcPr marL="57785" marR="57785" marT="57785" marB="57785" anchor="t">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161F30"/>
                      </a:solidFill>
                      <a:prstDash val="solid"/>
                      <a:round/>
                      <a:headEnd type="none" w="med" len="med"/>
                      <a:tailEnd type="none" w="med" len="med"/>
                    </a:lnT>
                    <a:lnB w="12700" cap="flat" cmpd="sng" algn="ctr">
                      <a:solidFill>
                        <a:srgbClr val="162032"/>
                      </a:solidFill>
                      <a:prstDash val="solid"/>
                      <a:round/>
                      <a:headEnd type="none" w="med" len="med"/>
                      <a:tailEnd type="none" w="med" len="med"/>
                    </a:lnB>
                  </a:tcPr>
                </a:tc>
                <a:tc>
                  <a:txBody>
                    <a:bodyPr/>
                    <a:lstStyle/>
                    <a:p>
                      <a:pPr indent="0" marL="0">
                        <a:lnSpc>
                          <a:spcPts val="1820"/>
                        </a:lnSpc>
                        <a:buNone/>
                      </a:pPr>
                      <a:r>
                        <a:rPr lang="en-US" sz="1300" dirty="0">
                          <a:solidFill>
                            <a:srgbClr val="F6F4EF"/>
                          </a:solidFill>
                          <a:latin typeface="Cairo" pitchFamily="34" charset="0"/>
                          <a:ea typeface="Cairo" pitchFamily="34" charset="-122"/>
                          <a:cs typeface="Cairo" pitchFamily="34" charset="-120"/>
                        </a:rPr>
                        <a:t>Accepted</a:t>
                      </a:r>
                      <a:endParaRPr lang="en-US" sz="1300" dirty="0">
                        <a:latin typeface="Cairo" charset="0"/>
                        <a:ea typeface="Cairo" charset="0"/>
                        <a:cs typeface="Cairo" charset="0"/>
                      </a:endParaRPr>
                    </a:p>
                  </a:txBody>
                  <a:tcPr marL="57785" marR="57785" marT="57785" marB="57785" anchor="t">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161F30"/>
                      </a:solidFill>
                      <a:prstDash val="solid"/>
                      <a:round/>
                      <a:headEnd type="none" w="med" len="med"/>
                      <a:tailEnd type="none" w="med" len="med"/>
                    </a:lnT>
                    <a:lnB w="12700" cap="flat" cmpd="sng" algn="ctr">
                      <a:solidFill>
                        <a:srgbClr val="162032"/>
                      </a:solidFill>
                      <a:prstDash val="solid"/>
                      <a:round/>
                      <a:headEnd type="none" w="med" len="med"/>
                      <a:tailEnd type="none" w="med" len="med"/>
                    </a:lnB>
                  </a:tcPr>
                </a:tc>
              </a:tr>
              <a:tr h="356870">
                <a:tc>
                  <a:txBody>
                    <a:bodyPr/>
                    <a:lstStyle/>
                    <a:p>
                      <a:pPr indent="0" marL="0">
                        <a:lnSpc>
                          <a:spcPts val="1820"/>
                        </a:lnSpc>
                        <a:buNone/>
                      </a:pPr>
                      <a:r>
                        <a:rPr lang="en-US" sz="1300" dirty="0">
                          <a:solidFill>
                            <a:srgbClr val="F6F4EF"/>
                          </a:solidFill>
                          <a:latin typeface="Cairo" pitchFamily="34" charset="0"/>
                          <a:ea typeface="Cairo" pitchFamily="34" charset="-122"/>
                          <a:cs typeface="Cairo" pitchFamily="34" charset="-120"/>
                        </a:rPr>
                        <a:t>Deposit 0 or -50</a:t>
                      </a:r>
                      <a:endParaRPr lang="en-US" sz="1300" dirty="0">
                        <a:latin typeface="Cairo" charset="0"/>
                        <a:ea typeface="Cairo" charset="0"/>
                        <a:cs typeface="Cairo" charset="0"/>
                      </a:endParaRPr>
                    </a:p>
                  </a:txBody>
                  <a:tcPr marL="57785" marR="57785" marT="57785" marB="57785" anchor="t">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162032"/>
                      </a:solidFill>
                      <a:prstDash val="solid"/>
                      <a:round/>
                      <a:headEnd type="none" w="med" len="med"/>
                      <a:tailEnd type="none" w="med" len="med"/>
                    </a:lnB>
                  </a:tcPr>
                </a:tc>
                <a:tc>
                  <a:txBody>
                    <a:bodyPr/>
                    <a:lstStyle/>
                    <a:p>
                      <a:pPr indent="0" marL="0">
                        <a:lnSpc>
                          <a:spcPts val="1820"/>
                        </a:lnSpc>
                        <a:buNone/>
                      </a:pPr>
                      <a:r>
                        <a:rPr lang="en-US" sz="1300" dirty="0">
                          <a:solidFill>
                            <a:srgbClr val="F6F4EF"/>
                          </a:solidFill>
                          <a:latin typeface="Cairo" pitchFamily="34" charset="0"/>
                          <a:ea typeface="Cairo" pitchFamily="34" charset="-122"/>
                          <a:cs typeface="Cairo" pitchFamily="34" charset="-120"/>
                        </a:rPr>
                        <a:t>Rejected</a:t>
                      </a:r>
                      <a:endParaRPr lang="en-US" sz="1300" dirty="0">
                        <a:latin typeface="Cairo" charset="0"/>
                        <a:ea typeface="Cairo" charset="0"/>
                        <a:cs typeface="Cairo" charset="0"/>
                      </a:endParaRPr>
                    </a:p>
                  </a:txBody>
                  <a:tcPr marL="57785" marR="57785" marT="57785" marB="57785" anchor="t">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162032"/>
                      </a:solidFill>
                      <a:prstDash val="solid"/>
                      <a:round/>
                      <a:headEnd type="none" w="med" len="med"/>
                      <a:tailEnd type="none" w="med" len="med"/>
                    </a:lnB>
                  </a:tcPr>
                </a:tc>
              </a:tr>
              <a:tr h="356870">
                <a:tc>
                  <a:txBody>
                    <a:bodyPr/>
                    <a:lstStyle/>
                    <a:p>
                      <a:pPr indent="0" marL="0">
                        <a:lnSpc>
                          <a:spcPts val="1820"/>
                        </a:lnSpc>
                        <a:buNone/>
                      </a:pPr>
                      <a:r>
                        <a:rPr lang="en-US" sz="1300" dirty="0">
                          <a:solidFill>
                            <a:srgbClr val="F6F4EF"/>
                          </a:solidFill>
                          <a:latin typeface="Cairo" pitchFamily="34" charset="0"/>
                          <a:ea typeface="Cairo" pitchFamily="34" charset="-122"/>
                          <a:cs typeface="Cairo" pitchFamily="34" charset="-120"/>
                        </a:rPr>
                        <a:t>Withdraw more than balance</a:t>
                      </a:r>
                      <a:endParaRPr lang="en-US" sz="1300" dirty="0">
                        <a:latin typeface="Cairo" charset="0"/>
                        <a:ea typeface="Cairo" charset="0"/>
                        <a:cs typeface="Cairo" charset="0"/>
                      </a:endParaRPr>
                    </a:p>
                  </a:txBody>
                  <a:tcPr marL="57785" marR="57785" marT="57785" marB="57785" anchor="t">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162032"/>
                      </a:solidFill>
                      <a:prstDash val="solid"/>
                      <a:round/>
                      <a:headEnd type="none" w="med" len="med"/>
                      <a:tailEnd type="none" w="med" len="med"/>
                    </a:lnB>
                  </a:tcPr>
                </a:tc>
                <a:tc>
                  <a:txBody>
                    <a:bodyPr/>
                    <a:lstStyle/>
                    <a:p>
                      <a:pPr indent="0" marL="0">
                        <a:lnSpc>
                          <a:spcPts val="1820"/>
                        </a:lnSpc>
                        <a:buNone/>
                      </a:pPr>
                      <a:r>
                        <a:rPr lang="en-US" sz="1300" dirty="0">
                          <a:solidFill>
                            <a:srgbClr val="F6F4EF"/>
                          </a:solidFill>
                          <a:latin typeface="Cairo" pitchFamily="34" charset="0"/>
                          <a:ea typeface="Cairo" pitchFamily="34" charset="-122"/>
                          <a:cs typeface="Cairo" pitchFamily="34" charset="-120"/>
                        </a:rPr>
                        <a:t>Rejected</a:t>
                      </a:r>
                      <a:endParaRPr lang="en-US" sz="1300" dirty="0">
                        <a:latin typeface="Cairo" charset="0"/>
                        <a:ea typeface="Cairo" charset="0"/>
                        <a:cs typeface="Cairo" charset="0"/>
                      </a:endParaRPr>
                    </a:p>
                  </a:txBody>
                  <a:tcPr marL="57785" marR="57785" marT="57785" marB="57785" anchor="t">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162032"/>
                      </a:solidFill>
                      <a:prstDash val="solid"/>
                      <a:round/>
                      <a:headEnd type="none" w="med" len="med"/>
                      <a:tailEnd type="none" w="med" len="med"/>
                    </a:lnB>
                  </a:tcPr>
                </a:tc>
              </a:tr>
              <a:tr h="356870">
                <a:tc>
                  <a:txBody>
                    <a:bodyPr/>
                    <a:lstStyle/>
                    <a:p>
                      <a:pPr indent="0" marL="0">
                        <a:lnSpc>
                          <a:spcPts val="1820"/>
                        </a:lnSpc>
                        <a:buNone/>
                      </a:pPr>
                      <a:r>
                        <a:rPr lang="en-US" sz="1300" dirty="0">
                          <a:solidFill>
                            <a:srgbClr val="F6F4EF"/>
                          </a:solidFill>
                          <a:latin typeface="Cairo" pitchFamily="34" charset="0"/>
                          <a:ea typeface="Cairo" pitchFamily="34" charset="-122"/>
                          <a:cs typeface="Cairo" pitchFamily="34" charset="-120"/>
                        </a:rPr>
                        <a:t>Letters as input</a:t>
                      </a:r>
                      <a:endParaRPr lang="en-US" sz="1300" dirty="0">
                        <a:latin typeface="Cairo" charset="0"/>
                        <a:ea typeface="Cairo" charset="0"/>
                        <a:cs typeface="Cairo" charset="0"/>
                      </a:endParaRPr>
                    </a:p>
                  </a:txBody>
                  <a:tcPr marL="57785" marR="57785" marT="57785" marB="57785" anchor="t">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162032"/>
                      </a:solidFill>
                      <a:prstDash val="solid"/>
                      <a:round/>
                      <a:headEnd type="none" w="med" len="med"/>
                      <a:tailEnd type="none" w="med" len="med"/>
                    </a:lnB>
                  </a:tcPr>
                </a:tc>
                <a:tc>
                  <a:txBody>
                    <a:bodyPr/>
                    <a:lstStyle/>
                    <a:p>
                      <a:pPr indent="0" marL="0">
                        <a:lnSpc>
                          <a:spcPts val="1820"/>
                        </a:lnSpc>
                        <a:buNone/>
                      </a:pPr>
                      <a:r>
                        <a:rPr lang="en-US" sz="1300" dirty="0">
                          <a:solidFill>
                            <a:srgbClr val="F6F4EF"/>
                          </a:solidFill>
                          <a:latin typeface="Cairo" pitchFamily="34" charset="0"/>
                          <a:ea typeface="Cairo" pitchFamily="34" charset="-122"/>
                          <a:cs typeface="Cairo" pitchFamily="34" charset="-120"/>
                        </a:rPr>
                        <a:t>Asks again</a:t>
                      </a:r>
                      <a:endParaRPr lang="en-US" sz="1300" dirty="0">
                        <a:latin typeface="Cairo" charset="0"/>
                        <a:ea typeface="Cairo" charset="0"/>
                        <a:cs typeface="Cairo" charset="0"/>
                      </a:endParaRPr>
                    </a:p>
                  </a:txBody>
                  <a:tcPr marL="57785" marR="57785" marT="57785" marB="57785" anchor="t">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162032"/>
                      </a:solidFill>
                      <a:prstDash val="solid"/>
                      <a:round/>
                      <a:headEnd type="none" w="med" len="med"/>
                      <a:tailEnd type="none" w="med" len="med"/>
                    </a:lnB>
                  </a:tcPr>
                </a:tc>
              </a:tr>
            </a:tbl>
          </a:graphicData>
        </a:graphic>
      </p:graphicFrame>
      <p:sp>
        <p:nvSpPr>
          <p:cNvPr id="13" name="Shape 8"/>
          <p:cNvSpPr/>
          <p:nvPr/>
        </p:nvSpPr>
        <p:spPr>
          <a:xfrm>
            <a:off x="6197600" y="2639064"/>
            <a:ext cx="5181600" cy="2214880"/>
          </a:xfrm>
          <a:prstGeom prst="roundRect">
            <a:avLst>
              <a:gd name="adj" fmla="val 4587"/>
            </a:avLst>
          </a:prstGeom>
          <a:solidFill>
            <a:srgbClr val="FFFFFF"/>
          </a:solidFill>
          <a:ln/>
        </p:spPr>
      </p:sp>
      <p:sp>
        <p:nvSpPr>
          <p:cNvPr id="14" name="Text 9"/>
          <p:cNvSpPr/>
          <p:nvPr/>
        </p:nvSpPr>
        <p:spPr>
          <a:xfrm>
            <a:off x="6311392" y="2867664"/>
            <a:ext cx="4813808" cy="360680"/>
          </a:xfrm>
          <a:prstGeom prst="rect">
            <a:avLst/>
          </a:prstGeom>
          <a:noFill/>
          <a:ln/>
        </p:spPr>
        <p:txBody>
          <a:bodyPr wrap="square" lIns="0" tIns="0" rIns="0" bIns="0" rtlCol="0" anchor="t">
            <a:normAutofit/>
          </a:bodyPr>
          <a:lstStyle/>
          <a:p>
            <a:pPr algn="r" indent="0" marL="0">
              <a:lnSpc>
                <a:spcPts val="2640"/>
              </a:lnSpc>
              <a:buNone/>
            </a:pPr>
            <a:r>
              <a:rPr lang="en-US" sz="2200" b="1" dirty="0">
                <a:solidFill>
                  <a:srgbClr val="8A2432"/>
                </a:solidFill>
                <a:latin typeface="Cairo" pitchFamily="34" charset="0"/>
                <a:ea typeface="Cairo" pitchFamily="34" charset="-122"/>
                <a:cs typeface="Cairo" pitchFamily="34" charset="-120"/>
              </a:rPr>
              <a:t>عمل إيه؟</a:t>
            </a:r>
            <a:endParaRPr lang="en-US" sz="2200" dirty="0"/>
          </a:p>
        </p:txBody>
      </p:sp>
      <p:sp>
        <p:nvSpPr>
          <p:cNvPr id="15" name="Text 10"/>
          <p:cNvSpPr/>
          <p:nvPr/>
        </p:nvSpPr>
        <p:spPr>
          <a:xfrm>
            <a:off x="6311392" y="3291842"/>
            <a:ext cx="4813808"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راجع الكود وتأكد من تطبيق قواعد المشروع</a:t>
            </a:r>
            <a:endParaRPr lang="en-US" sz="1500" dirty="0"/>
          </a:p>
        </p:txBody>
      </p:sp>
      <p:sp>
        <p:nvSpPr>
          <p:cNvPr id="16" name="Text 11"/>
          <p:cNvSpPr/>
          <p:nvPr/>
        </p:nvSpPr>
        <p:spPr>
          <a:xfrm>
            <a:off x="6311392" y="3647442"/>
            <a:ext cx="4813808"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اختبر الحالات الصحيحة والغلط</a:t>
            </a:r>
            <a:endParaRPr lang="en-US" sz="1500" dirty="0"/>
          </a:p>
        </p:txBody>
      </p:sp>
      <p:sp>
        <p:nvSpPr>
          <p:cNvPr id="17" name="Text 12"/>
          <p:cNvSpPr/>
          <p:nvPr/>
        </p:nvSpPr>
        <p:spPr>
          <a:xfrm>
            <a:off x="6311392" y="4003042"/>
            <a:ext cx="4813808"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كتب README يشرح الفكرة والمميزات وطريقة التشغيل</a:t>
            </a:r>
            <a:endParaRPr lang="en-US" sz="1500" dirty="0"/>
          </a:p>
        </p:txBody>
      </p:sp>
      <p:sp>
        <p:nvSpPr>
          <p:cNvPr id="18" name="Text 13"/>
          <p:cNvSpPr/>
          <p:nvPr/>
        </p:nvSpPr>
        <p:spPr>
          <a:xfrm>
            <a:off x="6311392" y="4358642"/>
            <a:ext cx="4813808"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A5568"/>
                </a:solidFill>
                <a:latin typeface="Cairo" pitchFamily="34" charset="0"/>
                <a:ea typeface="Cairo" pitchFamily="34" charset="-122"/>
                <a:cs typeface="Cairo" pitchFamily="34" charset="-120"/>
              </a:rPr>
              <a:t>• ساعد الفريق في إصلاح المشاكل</a:t>
            </a:r>
            <a:endParaRPr lang="en-US" sz="1500" dirty="0"/>
          </a:p>
        </p:txBody>
      </p:sp>
      <p:sp>
        <p:nvSpPr>
          <p:cNvPr id="19" name="Text 14"/>
          <p:cNvSpPr/>
          <p:nvPr/>
        </p:nvSpPr>
        <p:spPr>
          <a:xfrm>
            <a:off x="812800" y="6238242"/>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169"/>
                </a:solidFill>
                <a:latin typeface="Cairo" pitchFamily="34" charset="0"/>
                <a:ea typeface="Cairo" pitchFamily="34" charset="-122"/>
                <a:cs typeface="Cairo" pitchFamily="34" charset="-120"/>
              </a:rPr>
              <a:t>Team 1</a:t>
            </a:r>
            <a:endParaRPr lang="en-US" sz="1200" dirty="0"/>
          </a:p>
        </p:txBody>
      </p:sp>
      <p:sp>
        <p:nvSpPr>
          <p:cNvPr id="20"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169"/>
                </a:solidFill>
                <a:latin typeface="Cairo" pitchFamily="34" charset="0"/>
                <a:ea typeface="Cairo" pitchFamily="34" charset="-122"/>
                <a:cs typeface="Cairo"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33B"/>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FFFFFF"/>
          </a:solidFill>
          <a:ln/>
        </p:spPr>
      </p:sp>
      <p:sp>
        <p:nvSpPr>
          <p:cNvPr id="3" name="Shape 1"/>
          <p:cNvSpPr/>
          <p:nvPr/>
        </p:nvSpPr>
        <p:spPr>
          <a:xfrm>
            <a:off x="0" y="939800"/>
            <a:ext cx="12192000" cy="0"/>
          </a:xfrm>
          <a:prstGeom prst="line">
            <a:avLst/>
          </a:prstGeom>
          <a:noFill/>
          <a:ln w="25400">
            <a:solidFill>
              <a:srgbClr val="7FD1C7"/>
            </a:solidFill>
            <a:prstDash val="solid"/>
          </a:ln>
        </p:spPr>
      </p:sp>
      <p:pic>
        <p:nvPicPr>
          <p:cNvPr id="4" name="Image 0" descr="شعار ITC">    </p:cNvPr>
          <p:cNvPicPr>
            <a:picLocks noChangeAspect="1"/>
          </p:cNvPicPr>
          <p:nvPr/>
        </p:nvPicPr>
        <p:blipFill>
          <a:blip r:embed="rId1"/>
          <a:srcRect l="0" r="0" t="0" b="0"/>
          <a:stretch/>
        </p:blipFill>
        <p:spPr>
          <a:xfrm>
            <a:off x="812800" y="63500"/>
            <a:ext cx="825500" cy="825500"/>
          </a:xfrm>
          <a:prstGeom prst="rect">
            <a:avLst/>
          </a:prstGeom>
        </p:spPr>
      </p:pic>
      <p:pic>
        <p:nvPicPr>
          <p:cNvPr id="5" name="Image 1" descr="شعار رواد مصر الرقمية">    </p:cNvPr>
          <p:cNvPicPr>
            <a:picLocks noChangeAspect="1"/>
          </p:cNvPicPr>
          <p:nvPr/>
        </p:nvPicPr>
        <p:blipFill>
          <a:blip r:embed="rId2"/>
          <a:srcRect l="0" r="0" t="-223" b="-223"/>
          <a:stretch/>
        </p:blipFill>
        <p:spPr>
          <a:xfrm>
            <a:off x="10553700" y="63500"/>
            <a:ext cx="825500" cy="825500"/>
          </a:xfrm>
          <a:prstGeom prst="rect">
            <a:avLst/>
          </a:prstGeom>
        </p:spPr>
      </p:pic>
      <p:sp>
        <p:nvSpPr>
          <p:cNvPr id="6" name="Text 2"/>
          <p:cNvSpPr/>
          <p:nvPr/>
        </p:nvSpPr>
        <p:spPr>
          <a:xfrm>
            <a:off x="3479800" y="292100"/>
            <a:ext cx="5232400"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7233B"/>
                </a:solidFill>
                <a:latin typeface="Cairo" pitchFamily="34" charset="0"/>
                <a:ea typeface="Cairo" pitchFamily="34" charset="-122"/>
                <a:cs typeface="Cairo" pitchFamily="34" charset="-120"/>
              </a:rPr>
              <a:t>Simple Bank Account</a:t>
            </a:r>
            <a:endParaRPr lang="en-US" sz="1800" dirty="0"/>
          </a:p>
        </p:txBody>
      </p:sp>
      <p:sp>
        <p:nvSpPr>
          <p:cNvPr id="7" name="Text 3"/>
          <p:cNvSpPr/>
          <p:nvPr>
            <p:ph type="title"/>
          </p:nvPr>
        </p:nvSpPr>
        <p:spPr>
          <a:xfrm>
            <a:off x="495808" y="1333500"/>
            <a:ext cx="10883392" cy="551180"/>
          </a:xfrm>
          <a:prstGeom prst="rect">
            <a:avLst/>
          </a:prstGeom>
          <a:noFill/>
          <a:ln/>
        </p:spPr>
        <p:txBody>
          <a:bodyPr wrap="square" lIns="0" tIns="0" rIns="0" bIns="0" rtlCol="0" anchor="t">
            <a:normAutofit/>
          </a:bodyPr>
          <a:lstStyle/>
          <a:p>
            <a:pPr algn="r" indent="0" marL="0">
              <a:lnSpc>
                <a:spcPts val="4140"/>
              </a:lnSpc>
              <a:buNone/>
            </a:pPr>
            <a:r>
              <a:rPr lang="en-US" sz="3600" b="1" i="0" dirty="0">
                <a:solidFill>
                  <a:srgbClr val="F6F4EF"/>
                </a:solidFill>
                <a:latin typeface="Cairo" pitchFamily="34" charset="0"/>
                <a:ea typeface="Cairo" pitchFamily="34" charset="-122"/>
                <a:cs typeface="Cairo" pitchFamily="34" charset="-120"/>
              </a:rPr>
              <a:t>الخلاصة</a:t>
            </a:r>
            <a:endParaRPr lang="en-US" sz="3600" dirty="0"/>
          </a:p>
        </p:txBody>
      </p:sp>
      <p:sp>
        <p:nvSpPr>
          <p:cNvPr id="8" name="Shape 4"/>
          <p:cNvSpPr/>
          <p:nvPr/>
        </p:nvSpPr>
        <p:spPr>
          <a:xfrm>
            <a:off x="812800" y="2738121"/>
            <a:ext cx="3386614" cy="1371600"/>
          </a:xfrm>
          <a:prstGeom prst="roundRect">
            <a:avLst>
              <a:gd name="adj" fmla="val 7407"/>
            </a:avLst>
          </a:prstGeom>
          <a:solidFill>
            <a:srgbClr val="24365A"/>
          </a:solidFill>
          <a:ln/>
        </p:spPr>
      </p:sp>
      <p:sp>
        <p:nvSpPr>
          <p:cNvPr id="9" name="Text 5"/>
          <p:cNvSpPr/>
          <p:nvPr/>
        </p:nvSpPr>
        <p:spPr>
          <a:xfrm>
            <a:off x="953518" y="2966721"/>
            <a:ext cx="3017296" cy="330200"/>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7FD1C7"/>
                </a:solidFill>
                <a:latin typeface="Cairo" pitchFamily="34" charset="0"/>
                <a:ea typeface="Cairo" pitchFamily="34" charset="-122"/>
                <a:cs typeface="Cairo" pitchFamily="34" charset="-120"/>
              </a:rPr>
              <a:t>شغل فريق</a:t>
            </a:r>
            <a:endParaRPr lang="en-US" sz="2000" dirty="0"/>
          </a:p>
        </p:txBody>
      </p:sp>
      <p:sp>
        <p:nvSpPr>
          <p:cNvPr id="10" name="Text 6"/>
          <p:cNvSpPr/>
          <p:nvPr/>
        </p:nvSpPr>
        <p:spPr>
          <a:xfrm>
            <a:off x="953518" y="3347721"/>
            <a:ext cx="3017296" cy="5588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F6F4EF"/>
                </a:solidFill>
                <a:latin typeface="Cairo" pitchFamily="34" charset="0"/>
                <a:ea typeface="Cairo" pitchFamily="34" charset="-122"/>
                <a:cs typeface="Cairo" pitchFamily="34" charset="-120"/>
              </a:rPr>
              <a:t>أجزاء الخمسة أعضاء اتربطت ببعض وبتشغّل برنامج واحد.</a:t>
            </a:r>
            <a:endParaRPr lang="en-US" sz="1500" dirty="0"/>
          </a:p>
        </p:txBody>
      </p:sp>
      <p:sp>
        <p:nvSpPr>
          <p:cNvPr id="11" name="Shape 7"/>
          <p:cNvSpPr/>
          <p:nvPr/>
        </p:nvSpPr>
        <p:spPr>
          <a:xfrm>
            <a:off x="4402614" y="2738121"/>
            <a:ext cx="3386693" cy="1371600"/>
          </a:xfrm>
          <a:prstGeom prst="roundRect">
            <a:avLst>
              <a:gd name="adj" fmla="val 7407"/>
            </a:avLst>
          </a:prstGeom>
          <a:solidFill>
            <a:srgbClr val="24365A"/>
          </a:solidFill>
          <a:ln/>
        </p:spPr>
      </p:sp>
      <p:sp>
        <p:nvSpPr>
          <p:cNvPr id="12" name="Text 8"/>
          <p:cNvSpPr/>
          <p:nvPr/>
        </p:nvSpPr>
        <p:spPr>
          <a:xfrm>
            <a:off x="4543329" y="2966721"/>
            <a:ext cx="3017378" cy="330200"/>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7FD1C7"/>
                </a:solidFill>
                <a:latin typeface="Cairo" pitchFamily="34" charset="0"/>
                <a:ea typeface="Cairo" pitchFamily="34" charset="-122"/>
                <a:cs typeface="Cairo" pitchFamily="34" charset="-120"/>
              </a:rPr>
              <a:t>إدخال آمن</a:t>
            </a:r>
            <a:endParaRPr lang="en-US" sz="2000" dirty="0"/>
          </a:p>
        </p:txBody>
      </p:sp>
      <p:sp>
        <p:nvSpPr>
          <p:cNvPr id="13" name="Text 9"/>
          <p:cNvSpPr/>
          <p:nvPr/>
        </p:nvSpPr>
        <p:spPr>
          <a:xfrm>
            <a:off x="4543329" y="3347721"/>
            <a:ext cx="3017378" cy="5588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F6F4EF"/>
                </a:solidFill>
                <a:latin typeface="Cairo" pitchFamily="34" charset="0"/>
                <a:ea typeface="Cairo" pitchFamily="34" charset="-122"/>
                <a:cs typeface="Cairo" pitchFamily="34" charset="-120"/>
              </a:rPr>
              <a:t>المبالغ الصفر والسالبة والحروف مرفوضة، والرصيد محمي.</a:t>
            </a:r>
            <a:endParaRPr lang="en-US" sz="1500" dirty="0"/>
          </a:p>
        </p:txBody>
      </p:sp>
      <p:sp>
        <p:nvSpPr>
          <p:cNvPr id="14" name="Shape 10"/>
          <p:cNvSpPr/>
          <p:nvPr/>
        </p:nvSpPr>
        <p:spPr>
          <a:xfrm>
            <a:off x="7992507" y="2738121"/>
            <a:ext cx="3386693" cy="1371600"/>
          </a:xfrm>
          <a:prstGeom prst="roundRect">
            <a:avLst>
              <a:gd name="adj" fmla="val 7407"/>
            </a:avLst>
          </a:prstGeom>
          <a:solidFill>
            <a:srgbClr val="24365A"/>
          </a:solidFill>
          <a:ln/>
        </p:spPr>
      </p:sp>
      <p:sp>
        <p:nvSpPr>
          <p:cNvPr id="15" name="Text 11"/>
          <p:cNvSpPr/>
          <p:nvPr/>
        </p:nvSpPr>
        <p:spPr>
          <a:xfrm>
            <a:off x="8133222" y="2966721"/>
            <a:ext cx="3017378" cy="330200"/>
          </a:xfrm>
          <a:prstGeom prst="rect">
            <a:avLst/>
          </a:prstGeom>
          <a:noFill/>
          <a:ln/>
        </p:spPr>
        <p:txBody>
          <a:bodyPr wrap="square" lIns="0" tIns="0" rIns="0" bIns="0" rtlCol="0" anchor="t">
            <a:normAutofit/>
          </a:bodyPr>
          <a:lstStyle/>
          <a:p>
            <a:pPr algn="r" indent="0" marL="0">
              <a:lnSpc>
                <a:spcPts val="2400"/>
              </a:lnSpc>
              <a:buNone/>
            </a:pPr>
            <a:r>
              <a:rPr lang="en-US" sz="2000" b="1" dirty="0">
                <a:solidFill>
                  <a:srgbClr val="7FD1C7"/>
                </a:solidFill>
                <a:latin typeface="Cairo" pitchFamily="34" charset="0"/>
                <a:ea typeface="Cairo" pitchFamily="34" charset="-122"/>
                <a:cs typeface="Cairo" pitchFamily="34" charset="-120"/>
              </a:rPr>
              <a:t>طبقات واضحة</a:t>
            </a:r>
            <a:endParaRPr lang="en-US" sz="2000" dirty="0"/>
          </a:p>
        </p:txBody>
      </p:sp>
      <p:sp>
        <p:nvSpPr>
          <p:cNvPr id="16" name="Text 12"/>
          <p:cNvSpPr/>
          <p:nvPr/>
        </p:nvSpPr>
        <p:spPr>
          <a:xfrm>
            <a:off x="8133222" y="3347721"/>
            <a:ext cx="3017378" cy="5588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F6F4EF"/>
                </a:solidFill>
                <a:latin typeface="Cairo" pitchFamily="34" charset="0"/>
                <a:ea typeface="Cairo" pitchFamily="34" charset="-122"/>
                <a:cs typeface="Cairo" pitchFamily="34" charset="-120"/>
              </a:rPr>
              <a:t>Models و Transactions و UI و Program، وكل واحدة لها مسؤول.</a:t>
            </a:r>
            <a:endParaRPr lang="en-US" sz="1500" dirty="0"/>
          </a:p>
        </p:txBody>
      </p:sp>
      <p:sp>
        <p:nvSpPr>
          <p:cNvPr id="17" name="Text 13"/>
          <p:cNvSpPr/>
          <p:nvPr/>
        </p:nvSpPr>
        <p:spPr>
          <a:xfrm>
            <a:off x="654304" y="4988564"/>
            <a:ext cx="10883392" cy="878840"/>
          </a:xfrm>
          <a:prstGeom prst="rect">
            <a:avLst/>
          </a:prstGeom>
          <a:noFill/>
          <a:ln/>
        </p:spPr>
        <p:txBody>
          <a:bodyPr wrap="square" lIns="0" tIns="0" rIns="0" bIns="0" rtlCol="0" anchor="t">
            <a:normAutofit/>
          </a:bodyPr>
          <a:lstStyle/>
          <a:p>
            <a:pPr algn="ctr" indent="0" marL="0">
              <a:lnSpc>
                <a:spcPts val="6720"/>
              </a:lnSpc>
              <a:buNone/>
            </a:pPr>
            <a:r>
              <a:rPr lang="en-US" sz="4800" b="1" dirty="0">
                <a:solidFill>
                  <a:srgbClr val="7FD1C7"/>
                </a:solidFill>
                <a:latin typeface="Cairo" pitchFamily="34" charset="0"/>
                <a:ea typeface="Cairo" pitchFamily="34" charset="-122"/>
                <a:cs typeface="Cairo" pitchFamily="34" charset="-120"/>
              </a:rPr>
              <a:t>شكرًا لكم، أي أسئلة؟</a:t>
            </a:r>
            <a:endParaRPr lang="en-US" sz="4800" dirty="0"/>
          </a:p>
        </p:txBody>
      </p:sp>
      <p:sp>
        <p:nvSpPr>
          <p:cNvPr id="18" name="Text 14"/>
          <p:cNvSpPr/>
          <p:nvPr/>
        </p:nvSpPr>
        <p:spPr>
          <a:xfrm>
            <a:off x="812800" y="6238242"/>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8"/>
                </a:solidFill>
                <a:latin typeface="Cairo" pitchFamily="34" charset="0"/>
                <a:ea typeface="Cairo" pitchFamily="34" charset="-122"/>
                <a:cs typeface="Cairo" pitchFamily="34" charset="-120"/>
              </a:rPr>
              <a:t>Team 1</a:t>
            </a:r>
            <a:endParaRPr lang="en-US" sz="1200" dirty="0"/>
          </a:p>
        </p:txBody>
      </p:sp>
      <p:sp>
        <p:nvSpPr>
          <p:cNvPr id="19"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C8D8"/>
                </a:solidFill>
                <a:latin typeface="Cairo" pitchFamily="34" charset="0"/>
                <a:ea typeface="Cairo" pitchFamily="34" charset="-122"/>
                <a:cs typeface="Cairo" pitchFamily="34" charset="-120"/>
              </a:rPr>
              <a:t>10 / 10</a:t>
            </a:r>
            <a:endParaRPr lang="en-US" sz="1200" dirty="0"/>
          </a:p>
        </p:txBody>
      </p:sp>
    </p:spTree>
  </p:cSld>
  <p:clrMapOvr>
    <a:masterClrMapping/>
  </p:clrMapOvr>
</p:sld>
</file>

<file path=ppt/theme/theme1.xml><?xml version="1.0" encoding="utf-8"?>
<a:theme xmlns:a="http://schemas.openxmlformats.org/drawingml/2006/main" name="Simple Bank Account">
  <a:themeElements>
    <a:clrScheme name="Simple Bank Account">
      <a:dk1>
        <a:srgbClr val="17233B"/>
      </a:dk1>
      <a:lt1>
        <a:srgbClr val="F6F4EF"/>
      </a:lt1>
      <a:dk2>
        <a:srgbClr val="4F5768"/>
      </a:dk2>
      <a:lt2>
        <a:srgbClr val="E0DFDD"/>
      </a:lt2>
      <a:accent1>
        <a:srgbClr val="8A2432"/>
      </a:accent1>
      <a:accent2>
        <a:srgbClr val="7FD1C7"/>
      </a:accent2>
      <a:accent3>
        <a:srgbClr val="24365A"/>
      </a:accent3>
      <a:accent4>
        <a:srgbClr val="4A5568"/>
      </a:accent4>
      <a:accent5>
        <a:srgbClr val="5A6169"/>
      </a:accent5>
      <a:accent6>
        <a:srgbClr val="BFC8D8"/>
      </a:accent6>
      <a:hlink>
        <a:srgbClr val="0563C1"/>
      </a:hlink>
      <a:folHlink>
        <a:srgbClr val="954F72"/>
      </a:folHlink>
    </a:clrScheme>
    <a:fontScheme name="Simple Bank Account">
      <a:majorFont>
        <a:latin typeface="Cai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i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Bank Account</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Cairo
Copyright 2009 The Cairo Project Authors (https://github.com/Gue3bara/Cairo)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2026-10-30T01:08:07Z</dcterms:created>
  <dcterms:modified xsi:type="dcterms:W3CDTF">2026-10-30T01:08:07Z</dcterms:modified>
</cp:coreProperties>
</file>